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66" r:id="rId2"/>
    <p:sldId id="263" r:id="rId3"/>
    <p:sldId id="275" r:id="rId4"/>
    <p:sldId id="282" r:id="rId5"/>
    <p:sldId id="284" r:id="rId6"/>
    <p:sldId id="288" r:id="rId7"/>
    <p:sldId id="287" r:id="rId8"/>
    <p:sldId id="285" r:id="rId9"/>
    <p:sldId id="286" r:id="rId10"/>
    <p:sldId id="289" r:id="rId11"/>
    <p:sldId id="283" r:id="rId12"/>
    <p:sldId id="281" r:id="rId13"/>
  </p:sldIdLst>
  <p:sldSz cx="9906000" cy="6858000" type="A4"/>
  <p:notesSz cx="6735763" cy="9866313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0" autoAdjust="0"/>
    <p:restoredTop sz="96357" autoAdjust="0"/>
  </p:normalViewPr>
  <p:slideViewPr>
    <p:cSldViewPr snapToGrid="0">
      <p:cViewPr>
        <p:scale>
          <a:sx n="90" d="100"/>
          <a:sy n="90" d="100"/>
        </p:scale>
        <p:origin x="840" y="-78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3.xml"/><Relationship Id="rId7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NULL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5.xml"/><Relationship Id="rId7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NULL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7.xml"/><Relationship Id="rId7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9.xml"/><Relationship Id="rId7" Type="http://schemas.openxmlformats.org/officeDocument/2006/relationships/image" Target="../media/image8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NULL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ype A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4083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0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소속을 입력하세요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보고서 제목을 입력하세요</a:t>
            </a:r>
            <a:br>
              <a:rPr lang="ko-KR" altLang="en-US" dirty="0" smtClean="0"/>
            </a:br>
            <a:r>
              <a:rPr lang="en-US" altLang="ko-KR" dirty="0" err="1" smtClean="0"/>
              <a:t>White_Type A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66" y="6473266"/>
            <a:ext cx="952026" cy="19963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26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ype B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1520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4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보고서 제목을 입력하세요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White_Type B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소속을 입력하세요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66" y="6473266"/>
            <a:ext cx="952026" cy="1996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26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964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640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6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소속을 입력하세요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334155"/>
              </a:gs>
              <a:gs pos="0">
                <a:srgbClr val="0F766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보고서 제목을 입력하세요</a:t>
            </a:r>
            <a:br>
              <a:rPr lang="ko-KR" altLang="en-US" dirty="0" smtClean="0"/>
            </a:br>
            <a:r>
              <a:rPr lang="en-US" altLang="ko-KR" dirty="0" err="1" smtClean="0"/>
              <a:t>White_Clean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66" y="6473266"/>
            <a:ext cx="952026" cy="1996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26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39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Type B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9504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8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소속을 입력하세요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보고서 제목을 입력하세요</a:t>
            </a:r>
            <a:br>
              <a:rPr lang="ko-KR" altLang="en-US" dirty="0" smtClean="0"/>
            </a:br>
            <a:r>
              <a:rPr lang="en-US" altLang="ko-KR" dirty="0" err="1" smtClean="0"/>
              <a:t>Color_Type B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14" y="6473266"/>
            <a:ext cx="952026" cy="19963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7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6602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  <p15:guide id="3" orient="horz" pos="2047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pos="2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3837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소속을 입력하세요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보고서 제목을 입력하세요</a:t>
            </a:r>
            <a:br>
              <a:rPr lang="ko-KR" altLang="en-US" dirty="0" smtClean="0"/>
            </a:br>
            <a:r>
              <a:rPr lang="en-US" altLang="ko-KR" dirty="0" err="1" smtClean="0"/>
              <a:t>Color_Clean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14" y="6473266"/>
            <a:ext cx="952026" cy="19963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7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047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2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Type A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7177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29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5"/>
          <a:stretch/>
        </p:blipFill>
        <p:spPr>
          <a:xfrm>
            <a:off x="0" y="3197"/>
            <a:ext cx="9906000" cy="5525487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0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11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소속을 입력하세요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보고서 제목을 입력하세요</a:t>
            </a:r>
            <a:br>
              <a:rPr lang="ko-KR" altLang="en-US" dirty="0" smtClean="0"/>
            </a:br>
            <a:r>
              <a:rPr lang="en-US" altLang="ko-KR" dirty="0" err="1" smtClean="0"/>
              <a:t>Color_Type A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14" y="6473266"/>
            <a:ext cx="952026" cy="19963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7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102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04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1434" userDrawn="1">
          <p15:clr>
            <a:srgbClr val="FBAE40"/>
          </p15:clr>
        </p15:guide>
        <p15:guide id="4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5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334155"/>
                </a:solidFill>
              </a:rPr>
              <a:t>Contents</a:t>
            </a:r>
            <a:endParaRPr lang="ko-KR" altLang="en-US" dirty="0" smtClean="0">
              <a:solidFill>
                <a:srgbClr val="334155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3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334155"/>
                </a:solidFill>
              </a:rPr>
              <a:t>Contents</a:t>
            </a:r>
            <a:endParaRPr lang="ko-KR" altLang="en-US" dirty="0" smtClean="0">
              <a:solidFill>
                <a:srgbClr val="334155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61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80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6" orient="horz" pos="1434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85" name="think-cell 슬라이드" r:id="rId14" imgW="381" imgH="381" progId="TCLayout.ActiveDocument.1">
                  <p:embed/>
                </p:oleObj>
              </mc:Choice>
              <mc:Fallback>
                <p:oleObj name="think-cell 슬라이드" r:id="rId1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2" r:id="rId2"/>
    <p:sldLayoutId id="2147483726" r:id="rId3"/>
    <p:sldLayoutId id="2147483715" r:id="rId4"/>
    <p:sldLayoutId id="2147483727" r:id="rId5"/>
    <p:sldLayoutId id="2147483717" r:id="rId6"/>
    <p:sldLayoutId id="2147483718" r:id="rId7"/>
    <p:sldLayoutId id="2147483720" r:id="rId8"/>
    <p:sldLayoutId id="2147483719" r:id="rId9"/>
    <p:sldLayoutId id="2147483729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978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4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r>
              <a:rPr lang="en-US" altLang="ko-KR" smtClean="0"/>
              <a:t>프로젝트명</a:t>
            </a:r>
            <a:r>
              <a:rPr lang="ko-KR" altLang="en-US" smtClean="0"/>
              <a:t/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2400" smtClean="0">
                <a:solidFill>
                  <a:srgbClr val="334155"/>
                </a:solidFill>
              </a:rPr>
              <a:t>(</a:t>
            </a:r>
            <a:r>
              <a:rPr lang="ko-KR" altLang="en-US" sz="2400" smtClean="0">
                <a:solidFill>
                  <a:srgbClr val="334155"/>
                </a:solidFill>
              </a:rPr>
              <a:t>이슈 분석서</a:t>
            </a:r>
            <a:r>
              <a:rPr lang="en-US" altLang="ko-KR" sz="2400" smtClean="0">
                <a:solidFill>
                  <a:srgbClr val="334155"/>
                </a:solidFill>
              </a:rPr>
              <a:t>)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442133" y="3665100"/>
            <a:ext cx="5364061" cy="248727"/>
          </a:xfrm>
        </p:spPr>
        <p:txBody>
          <a:bodyPr/>
          <a:lstStyle/>
          <a:p>
            <a:r>
              <a:rPr lang="en-US" altLang="ko-KR" smtClean="0"/>
              <a:t>프로젝트 TF</a:t>
            </a:r>
            <a:r>
              <a:rPr lang="ko-KR" altLang="en-US" smtClean="0"/>
              <a:t>팀</a:t>
            </a:r>
            <a:r>
              <a:rPr lang="ko-KR" altLang="en-US" b="1" smtClean="0"/>
              <a:t>｜</a:t>
            </a:r>
            <a:r>
              <a:rPr lang="en-US" altLang="ko-KR" smtClean="0"/>
              <a:t>26.08.01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52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2442012"/>
            <a:ext cx="3421424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8" y="2442367"/>
            <a:ext cx="51412" cy="1340084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이슈 분석 </a:t>
            </a:r>
            <a:r>
              <a:rPr lang="en-US" altLang="ko-KR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Approach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영역별 이슈 및 원인분석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개선기회 도출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910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dirty="0"/>
              <a:t>이슈 분석 수행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31" name="Rectangle 60"/>
          <p:cNvSpPr>
            <a:spLocks noChangeArrowheads="1"/>
          </p:cNvSpPr>
          <p:nvPr/>
        </p:nvSpPr>
        <p:spPr bwMode="auto">
          <a:xfrm>
            <a:off x="474785" y="2171928"/>
            <a:ext cx="1129812" cy="3714523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5200" rIns="54000" bIns="252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/>
            <a:endParaRPr lang="ko-KR" altLang="en-US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2" name="AutoShape 61"/>
          <p:cNvSpPr>
            <a:spLocks noChangeArrowheads="1"/>
          </p:cNvSpPr>
          <p:nvPr/>
        </p:nvSpPr>
        <p:spPr bwMode="auto">
          <a:xfrm rot="16200000">
            <a:off x="5036528" y="3729642"/>
            <a:ext cx="3219450" cy="373440"/>
          </a:xfrm>
          <a:custGeom>
            <a:avLst/>
            <a:gdLst>
              <a:gd name="T0" fmla="*/ 3066079 w 21600"/>
              <a:gd name="T1" fmla="*/ 319882 h 21600"/>
              <a:gd name="T2" fmla="*/ 1609725 w 21600"/>
              <a:gd name="T3" fmla="*/ 639763 h 21600"/>
              <a:gd name="T4" fmla="*/ 153371 w 21600"/>
              <a:gd name="T5" fmla="*/ 319882 h 21600"/>
              <a:gd name="T6" fmla="*/ 160972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29 w 21600"/>
              <a:gd name="T13" fmla="*/ 2829 h 21600"/>
              <a:gd name="T14" fmla="*/ 18771 w 21600"/>
              <a:gd name="T15" fmla="*/ 1877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057" y="21600"/>
                </a:lnTo>
                <a:lnTo>
                  <a:pt x="19543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767676"/>
              </a:gs>
              <a:gs pos="100000">
                <a:srgbClr val="FFFFFF">
                  <a:alpha val="42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defTabSz="914400"/>
            <a:endParaRPr lang="ko-KR" altLang="en-US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3" name="Rectangle 62"/>
          <p:cNvSpPr>
            <a:spLocks noChangeArrowheads="1"/>
          </p:cNvSpPr>
          <p:nvPr/>
        </p:nvSpPr>
        <p:spPr bwMode="auto">
          <a:xfrm>
            <a:off x="422031" y="1665520"/>
            <a:ext cx="3790950" cy="360363"/>
          </a:xfrm>
          <a:prstGeom prst="rect">
            <a:avLst/>
          </a:prstGeom>
          <a:solidFill>
            <a:srgbClr val="1D1F6F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현황 평가 및 이슈 파악</a:t>
            </a:r>
          </a:p>
        </p:txBody>
      </p:sp>
      <p:sp>
        <p:nvSpPr>
          <p:cNvPr id="34" name="AutoShape 63"/>
          <p:cNvSpPr>
            <a:spLocks noChangeArrowheads="1"/>
          </p:cNvSpPr>
          <p:nvPr/>
        </p:nvSpPr>
        <p:spPr bwMode="auto">
          <a:xfrm>
            <a:off x="619858" y="2240645"/>
            <a:ext cx="1195754" cy="7572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 관련자료 </a:t>
            </a:r>
            <a:b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5" name="Rectangle 64"/>
          <p:cNvSpPr>
            <a:spLocks noChangeArrowheads="1"/>
          </p:cNvSpPr>
          <p:nvPr/>
        </p:nvSpPr>
        <p:spPr bwMode="auto">
          <a:xfrm>
            <a:off x="422031" y="2083033"/>
            <a:ext cx="3790950" cy="410549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marL="85725" indent="-8572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Tx/>
              <a:buFont typeface="돋움" panose="020B0600000101010101" pitchFamily="50" charset="-127"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6" name="Text Box 65"/>
          <p:cNvSpPr txBox="1">
            <a:spLocks noChangeArrowheads="1"/>
          </p:cNvSpPr>
          <p:nvPr/>
        </p:nvSpPr>
        <p:spPr bwMode="auto">
          <a:xfrm>
            <a:off x="1953358" y="2246995"/>
            <a:ext cx="217316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규정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준칙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지침 등 관련 제규정 자료 분석</a:t>
            </a: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업무처리 매뉴얼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 처리 현황 등 업무 수행 관련 자료분석</a:t>
            </a:r>
          </a:p>
        </p:txBody>
      </p:sp>
      <p:sp>
        <p:nvSpPr>
          <p:cNvPr id="37" name="AutoShape 66"/>
          <p:cNvSpPr>
            <a:spLocks noChangeArrowheads="1"/>
          </p:cNvSpPr>
          <p:nvPr/>
        </p:nvSpPr>
        <p:spPr bwMode="auto">
          <a:xfrm rot="16200000">
            <a:off x="2534139" y="3721705"/>
            <a:ext cx="4159250" cy="373440"/>
          </a:xfrm>
          <a:custGeom>
            <a:avLst/>
            <a:gdLst>
              <a:gd name="T0" fmla="*/ 3961108 w 21600"/>
              <a:gd name="T1" fmla="*/ 396081 h 21600"/>
              <a:gd name="T2" fmla="*/ 2079625 w 21600"/>
              <a:gd name="T3" fmla="*/ 792162 h 21600"/>
              <a:gd name="T4" fmla="*/ 198142 w 21600"/>
              <a:gd name="T5" fmla="*/ 396081 h 21600"/>
              <a:gd name="T6" fmla="*/ 207962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29 w 21600"/>
              <a:gd name="T13" fmla="*/ 2829 h 21600"/>
              <a:gd name="T14" fmla="*/ 18771 w 21600"/>
              <a:gd name="T15" fmla="*/ 1877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057" y="21600"/>
                </a:lnTo>
                <a:lnTo>
                  <a:pt x="19543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767676"/>
              </a:gs>
              <a:gs pos="100000">
                <a:srgbClr val="FFFFFF">
                  <a:alpha val="42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defTabSz="914400"/>
            <a:endParaRPr lang="ko-KR" altLang="en-US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8" name="Rectangle 67"/>
          <p:cNvSpPr>
            <a:spLocks noChangeArrowheads="1"/>
          </p:cNvSpPr>
          <p:nvPr/>
        </p:nvSpPr>
        <p:spPr bwMode="auto">
          <a:xfrm>
            <a:off x="4815343" y="2246492"/>
            <a:ext cx="1528397" cy="428625"/>
          </a:xfrm>
          <a:prstGeom prst="rect">
            <a:avLst/>
          </a:prstGeom>
          <a:solidFill>
            <a:srgbClr val="1D1F6F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종합 및 </a:t>
            </a:r>
            <a:b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원인 분석</a:t>
            </a:r>
          </a:p>
        </p:txBody>
      </p:sp>
      <p:sp>
        <p:nvSpPr>
          <p:cNvPr id="39" name="Text Box 68"/>
          <p:cNvSpPr txBox="1">
            <a:spLocks noChangeArrowheads="1"/>
          </p:cNvSpPr>
          <p:nvPr/>
        </p:nvSpPr>
        <p:spPr bwMode="auto">
          <a:xfrm>
            <a:off x="4882662" y="4535577"/>
            <a:ext cx="1461078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90488" indent="-90488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이슈별 근본 원인에 대한 분석 및 유형 분류 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전략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규정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조직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b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IT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)</a:t>
            </a:r>
          </a:p>
        </p:txBody>
      </p:sp>
      <p:sp>
        <p:nvSpPr>
          <p:cNvPr id="40" name="AutoShape 70"/>
          <p:cNvSpPr>
            <a:spLocks noChangeArrowheads="1"/>
          </p:cNvSpPr>
          <p:nvPr/>
        </p:nvSpPr>
        <p:spPr bwMode="auto">
          <a:xfrm>
            <a:off x="619858" y="5328056"/>
            <a:ext cx="1195754" cy="7572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선진 프로세스</a:t>
            </a:r>
            <a:b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</a:t>
            </a:r>
          </a:p>
        </p:txBody>
      </p:sp>
      <p:sp>
        <p:nvSpPr>
          <p:cNvPr id="41" name="AutoShape 71"/>
          <p:cNvSpPr>
            <a:spLocks noChangeArrowheads="1"/>
          </p:cNvSpPr>
          <p:nvPr/>
        </p:nvSpPr>
        <p:spPr bwMode="auto">
          <a:xfrm>
            <a:off x="619858" y="3262316"/>
            <a:ext cx="1195754" cy="7572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As-Is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 맵검토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보완</a:t>
            </a:r>
          </a:p>
        </p:txBody>
      </p:sp>
      <p:sp>
        <p:nvSpPr>
          <p:cNvPr id="42" name="Rectangle 72"/>
          <p:cNvSpPr>
            <a:spLocks noChangeArrowheads="1"/>
          </p:cNvSpPr>
          <p:nvPr/>
        </p:nvSpPr>
        <p:spPr bwMode="auto">
          <a:xfrm>
            <a:off x="6901961" y="2641779"/>
            <a:ext cx="1795097" cy="360363"/>
          </a:xfrm>
          <a:prstGeom prst="rect">
            <a:avLst/>
          </a:prstGeom>
          <a:solidFill>
            <a:srgbClr val="1D1F6F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개선기회 도출</a:t>
            </a:r>
          </a:p>
        </p:txBody>
      </p:sp>
      <p:sp>
        <p:nvSpPr>
          <p:cNvPr id="43" name="Text Box 74"/>
          <p:cNvSpPr txBox="1">
            <a:spLocks noChangeArrowheads="1"/>
          </p:cNvSpPr>
          <p:nvPr/>
        </p:nvSpPr>
        <p:spPr bwMode="auto">
          <a:xfrm>
            <a:off x="1953358" y="5401130"/>
            <a:ext cx="2173165" cy="55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분석을 통한 이슈 반영</a:t>
            </a: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타사 구축사례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분석을 통한 업무 프로세스 관련 이슈 반영</a:t>
            </a:r>
          </a:p>
        </p:txBody>
      </p:sp>
      <p:sp>
        <p:nvSpPr>
          <p:cNvPr id="44" name="AutoShape 75"/>
          <p:cNvSpPr>
            <a:spLocks noChangeArrowheads="1"/>
          </p:cNvSpPr>
          <p:nvPr/>
        </p:nvSpPr>
        <p:spPr bwMode="auto">
          <a:xfrm>
            <a:off x="4906197" y="2868792"/>
            <a:ext cx="1269023" cy="4984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상세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정의</a:t>
            </a:r>
          </a:p>
        </p:txBody>
      </p:sp>
      <p:sp>
        <p:nvSpPr>
          <p:cNvPr id="45" name="AutoShape 76"/>
          <p:cNvSpPr>
            <a:spLocks noChangeArrowheads="1"/>
          </p:cNvSpPr>
          <p:nvPr/>
        </p:nvSpPr>
        <p:spPr bwMode="auto">
          <a:xfrm>
            <a:off x="4900253" y="3762382"/>
            <a:ext cx="1336431" cy="746125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별 원인 분석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전략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규정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조직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, IT) </a:t>
            </a:r>
          </a:p>
        </p:txBody>
      </p:sp>
      <p:sp>
        <p:nvSpPr>
          <p:cNvPr id="46" name="AutoShape 77"/>
          <p:cNvSpPr>
            <a:spLocks noChangeArrowheads="1"/>
          </p:cNvSpPr>
          <p:nvPr/>
        </p:nvSpPr>
        <p:spPr bwMode="auto">
          <a:xfrm>
            <a:off x="5377961" y="3438525"/>
            <a:ext cx="398585" cy="258763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 algn="ctr">
            <a:solidFill>
              <a:srgbClr val="00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10800" rIns="18000" bIns="108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47" name="Text Box 78"/>
          <p:cNvSpPr txBox="1">
            <a:spLocks noChangeArrowheads="1"/>
          </p:cNvSpPr>
          <p:nvPr/>
        </p:nvSpPr>
        <p:spPr bwMode="auto">
          <a:xfrm>
            <a:off x="1975338" y="3217728"/>
            <a:ext cx="2151185" cy="111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현업이 작성한 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As-Is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 정의서 검토</a:t>
            </a:r>
            <a:endParaRPr lang="en-US" altLang="ko-KR" sz="1100" b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기존</a:t>
            </a:r>
            <a:r>
              <a:rPr lang="en-US" altLang="ko-KR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</a:t>
            </a:r>
            <a:r>
              <a:rPr lang="ko-KR" altLang="en-US" sz="1100" b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산출물</a:t>
            </a:r>
            <a:r>
              <a:rPr lang="en-US" altLang="ko-KR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현행프로세스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맵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)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을 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PI 관점에서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상세 검토 및 보완</a:t>
            </a: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현업 인터뷰를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통한 업무 영역 이슈 도출 및 시스템 관련 이슈 추가 확인</a:t>
            </a:r>
          </a:p>
        </p:txBody>
      </p:sp>
      <p:sp>
        <p:nvSpPr>
          <p:cNvPr id="48" name="AutoShape 79"/>
          <p:cNvSpPr>
            <a:spLocks noChangeArrowheads="1"/>
          </p:cNvSpPr>
          <p:nvPr/>
        </p:nvSpPr>
        <p:spPr bwMode="auto">
          <a:xfrm>
            <a:off x="7031350" y="3106285"/>
            <a:ext cx="1541411" cy="569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별 개선기회 도출 </a:t>
            </a:r>
          </a:p>
        </p:txBody>
      </p:sp>
      <p:sp>
        <p:nvSpPr>
          <p:cNvPr id="49" name="AutoShape 80"/>
          <p:cNvSpPr>
            <a:spLocks noChangeArrowheads="1"/>
          </p:cNvSpPr>
          <p:nvPr/>
        </p:nvSpPr>
        <p:spPr bwMode="auto">
          <a:xfrm>
            <a:off x="7211248" y="4108679"/>
            <a:ext cx="1197219" cy="7937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개선기회 정의 및 유형 분류</a:t>
            </a:r>
          </a:p>
        </p:txBody>
      </p:sp>
      <p:sp>
        <p:nvSpPr>
          <p:cNvPr id="50" name="AutoShape 81"/>
          <p:cNvSpPr>
            <a:spLocks noChangeArrowheads="1"/>
          </p:cNvSpPr>
          <p:nvPr/>
        </p:nvSpPr>
        <p:spPr bwMode="auto">
          <a:xfrm>
            <a:off x="7602031" y="3762379"/>
            <a:ext cx="400050" cy="258763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 algn="ctr">
            <a:solidFill>
              <a:srgbClr val="00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10800" rIns="18000" bIns="108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1" name="오각형 50"/>
          <p:cNvSpPr/>
          <p:nvPr/>
        </p:nvSpPr>
        <p:spPr bwMode="auto">
          <a:xfrm>
            <a:off x="7329154" y="5316973"/>
            <a:ext cx="1196474" cy="864120"/>
          </a:xfrm>
          <a:prstGeom prst="homePlate">
            <a:avLst>
              <a:gd name="adj" fmla="val 25950"/>
            </a:avLst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Wingdings" pitchFamily="2" charset="2"/>
              </a:rPr>
              <a:t> 개선기회 상세 정의</a:t>
            </a:r>
          </a:p>
        </p:txBody>
      </p:sp>
      <p:sp>
        <p:nvSpPr>
          <p:cNvPr id="52" name="AutoShape 81"/>
          <p:cNvSpPr>
            <a:spLocks noChangeArrowheads="1"/>
          </p:cNvSpPr>
          <p:nvPr/>
        </p:nvSpPr>
        <p:spPr bwMode="auto">
          <a:xfrm>
            <a:off x="7602031" y="4986487"/>
            <a:ext cx="400050" cy="2587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>
              <a:lumMod val="50000"/>
              <a:lumOff val="50000"/>
            </a:srgbClr>
          </a:solidFill>
          <a:ln w="9525" algn="ctr">
            <a:solidFill>
              <a:srgbClr val="000000"/>
            </a:solidFill>
            <a:prstDash val="dash"/>
            <a:miter lim="800000"/>
            <a:headEnd type="none" w="sm" len="sm"/>
            <a:tailEnd/>
          </a:ln>
        </p:spPr>
        <p:txBody>
          <a:bodyPr wrap="none" lIns="18000" tIns="10800" rIns="18000" bIns="108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60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업무 관련자료 분석과 </a:t>
            </a:r>
            <a:r>
              <a:rPr lang="en-US" altLang="ko-KR"/>
              <a:t>As-Is </a:t>
            </a:r>
            <a:r>
              <a:rPr lang="ko-KR" altLang="en-US"/>
              <a:t>프로세스 맵 검토 및 보완</a:t>
            </a:r>
            <a:r>
              <a:rPr lang="en-US" altLang="ko-KR"/>
              <a:t>, </a:t>
            </a:r>
            <a:r>
              <a:rPr lang="ko-KR" altLang="en-US"/>
              <a:t>선진 프로세스 분석 등의 관점에서 이슈를 파악 후 근본원인 분석을 실시하여 개선기회를 도출하고 개선기회를 정의함</a:t>
            </a:r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28" name="AutoShape 70"/>
          <p:cNvSpPr>
            <a:spLocks noChangeArrowheads="1"/>
          </p:cNvSpPr>
          <p:nvPr/>
        </p:nvSpPr>
        <p:spPr bwMode="auto">
          <a:xfrm>
            <a:off x="626602" y="4335361"/>
            <a:ext cx="1195754" cy="7572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 데이터분석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29" name="Text Box 74"/>
          <p:cNvSpPr txBox="1">
            <a:spLocks noChangeArrowheads="1"/>
          </p:cNvSpPr>
          <p:nvPr/>
        </p:nvSpPr>
        <p:spPr bwMode="auto">
          <a:xfrm>
            <a:off x="1960102" y="4506405"/>
            <a:ext cx="21731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이슈가 있는 부문의 사내데이터를 분석하여 이슈를 객관적으로 검증</a:t>
            </a:r>
            <a:endParaRPr lang="ko-KR" altLang="en-US" sz="1100" b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2931868"/>
            <a:ext cx="3421424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8" y="2442367"/>
            <a:ext cx="51412" cy="1340084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이슈 분석 </a:t>
            </a:r>
            <a:r>
              <a:rPr lang="en-US" altLang="ko-KR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Approach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영역별 이슈 및 원인분석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개선기회 도출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93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AutoShape 5"/>
          <p:cNvCxnSpPr>
            <a:cxnSpLocks noChangeShapeType="1"/>
            <a:stCxn id="51" idx="2"/>
            <a:endCxn id="53" idx="0"/>
          </p:cNvCxnSpPr>
          <p:nvPr/>
        </p:nvCxnSpPr>
        <p:spPr bwMode="auto">
          <a:xfrm flipH="1">
            <a:off x="4829099" y="3084383"/>
            <a:ext cx="4132" cy="1030689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cxnSp>
        <p:nvCxnSpPr>
          <p:cNvPr id="60" name="AutoShape 5"/>
          <p:cNvCxnSpPr>
            <a:cxnSpLocks noChangeShapeType="1"/>
            <a:stCxn id="103" idx="2"/>
            <a:endCxn id="137" idx="0"/>
          </p:cNvCxnSpPr>
          <p:nvPr/>
        </p:nvCxnSpPr>
        <p:spPr bwMode="auto">
          <a:xfrm>
            <a:off x="8008152" y="3088209"/>
            <a:ext cx="2217" cy="1953637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cxnSp>
        <p:nvCxnSpPr>
          <p:cNvPr id="55" name="AutoShape 5"/>
          <p:cNvCxnSpPr>
            <a:cxnSpLocks noChangeShapeType="1"/>
            <a:stCxn id="111" idx="2"/>
            <a:endCxn id="87" idx="0"/>
          </p:cNvCxnSpPr>
          <p:nvPr/>
        </p:nvCxnSpPr>
        <p:spPr bwMode="auto">
          <a:xfrm>
            <a:off x="3774924" y="3097262"/>
            <a:ext cx="3731" cy="1958652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244726" y="1311275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 defTabSz="914400" latinLnBrk="1"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7" name="Oval 6"/>
          <p:cNvSpPr>
            <a:spLocks noChangeArrowheads="1"/>
          </p:cNvSpPr>
          <p:nvPr/>
        </p:nvSpPr>
        <p:spPr bwMode="gray">
          <a:xfrm>
            <a:off x="347922" y="1791100"/>
            <a:ext cx="638908" cy="485775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Mega</a:t>
            </a:r>
          </a:p>
        </p:txBody>
      </p:sp>
      <p:sp>
        <p:nvSpPr>
          <p:cNvPr id="98" name="Oval 7"/>
          <p:cNvSpPr>
            <a:spLocks noChangeArrowheads="1"/>
          </p:cNvSpPr>
          <p:nvPr/>
        </p:nvSpPr>
        <p:spPr bwMode="gray">
          <a:xfrm>
            <a:off x="347922" y="2682236"/>
            <a:ext cx="638908" cy="485775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Major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9" name="Oval 8"/>
          <p:cNvSpPr>
            <a:spLocks noChangeArrowheads="1"/>
          </p:cNvSpPr>
          <p:nvPr/>
        </p:nvSpPr>
        <p:spPr bwMode="gray">
          <a:xfrm>
            <a:off x="347922" y="3573021"/>
            <a:ext cx="638908" cy="485775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Sub</a:t>
            </a:r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cxnSp>
        <p:nvCxnSpPr>
          <p:cNvPr id="101" name="AutoShape 5"/>
          <p:cNvCxnSpPr>
            <a:cxnSpLocks noChangeShapeType="1"/>
            <a:stCxn id="102" idx="2"/>
            <a:endCxn id="80" idx="0"/>
          </p:cNvCxnSpPr>
          <p:nvPr/>
        </p:nvCxnSpPr>
        <p:spPr bwMode="auto">
          <a:xfrm>
            <a:off x="2716617" y="3097262"/>
            <a:ext cx="9021" cy="2462957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102" name="AutoShape 9"/>
          <p:cNvSpPr>
            <a:spLocks noChangeArrowheads="1"/>
          </p:cNvSpPr>
          <p:nvPr/>
        </p:nvSpPr>
        <p:spPr bwMode="auto">
          <a:xfrm>
            <a:off x="2248617" y="2746424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3" name="AutoShape 10"/>
          <p:cNvSpPr>
            <a:spLocks noChangeArrowheads="1"/>
          </p:cNvSpPr>
          <p:nvPr/>
        </p:nvSpPr>
        <p:spPr bwMode="auto">
          <a:xfrm>
            <a:off x="7540152" y="2737371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수출관리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105" name="AutoShape 12"/>
          <p:cNvCxnSpPr>
            <a:cxnSpLocks noChangeShapeType="1"/>
            <a:stCxn id="135" idx="2"/>
            <a:endCxn id="102" idx="0"/>
          </p:cNvCxnSpPr>
          <p:nvPr/>
        </p:nvCxnSpPr>
        <p:spPr bwMode="auto">
          <a:xfrm rot="5400000">
            <a:off x="2869265" y="2133406"/>
            <a:ext cx="460371" cy="7656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106" name="AutoShape 13"/>
          <p:cNvCxnSpPr>
            <a:cxnSpLocks noChangeShapeType="1"/>
            <a:stCxn id="135" idx="2"/>
            <a:endCxn id="103" idx="0"/>
          </p:cNvCxnSpPr>
          <p:nvPr/>
        </p:nvCxnSpPr>
        <p:spPr bwMode="auto">
          <a:xfrm rot="16200000" flipH="1">
            <a:off x="5519558" y="248777"/>
            <a:ext cx="451318" cy="45258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107" name="Text Box 14"/>
          <p:cNvSpPr txBox="1">
            <a:spLocks noChangeArrowheads="1"/>
          </p:cNvSpPr>
          <p:nvPr/>
        </p:nvSpPr>
        <p:spPr bwMode="auto">
          <a:xfrm>
            <a:off x="2219473" y="412665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주문접수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등록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8" name="Text Box 15"/>
          <p:cNvSpPr txBox="1">
            <a:spLocks noChangeArrowheads="1"/>
          </p:cNvSpPr>
          <p:nvPr/>
        </p:nvSpPr>
        <p:spPr bwMode="auto">
          <a:xfrm>
            <a:off x="2219473" y="3651995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견적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9" name="Text Box 27"/>
          <p:cNvSpPr txBox="1">
            <a:spLocks noChangeArrowheads="1"/>
          </p:cNvSpPr>
          <p:nvPr/>
        </p:nvSpPr>
        <p:spPr bwMode="auto">
          <a:xfrm>
            <a:off x="7510433" y="4109845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선적서류관리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0" name="Text Box 28"/>
          <p:cNvSpPr txBox="1">
            <a:spLocks noChangeArrowheads="1"/>
          </p:cNvSpPr>
          <p:nvPr/>
        </p:nvSpPr>
        <p:spPr bwMode="auto">
          <a:xfrm>
            <a:off x="7510433" y="3635003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선적일정관리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1" name="AutoShape 29"/>
          <p:cNvSpPr>
            <a:spLocks noChangeArrowheads="1"/>
          </p:cNvSpPr>
          <p:nvPr/>
        </p:nvSpPr>
        <p:spPr bwMode="auto">
          <a:xfrm>
            <a:off x="3306924" y="2746424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재고</a:t>
            </a:r>
            <a:r>
              <a:rPr kumimoji="0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출하관리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3" name="Text Box 31"/>
          <p:cNvSpPr txBox="1">
            <a:spLocks noChangeArrowheads="1"/>
          </p:cNvSpPr>
          <p:nvPr/>
        </p:nvSpPr>
        <p:spPr bwMode="auto">
          <a:xfrm>
            <a:off x="3281286" y="364405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재고조회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114" name="AutoShape 34"/>
          <p:cNvCxnSpPr>
            <a:cxnSpLocks noChangeShapeType="1"/>
            <a:stCxn id="135" idx="2"/>
            <a:endCxn id="111" idx="0"/>
          </p:cNvCxnSpPr>
          <p:nvPr/>
        </p:nvCxnSpPr>
        <p:spPr bwMode="auto">
          <a:xfrm rot="16200000" flipH="1">
            <a:off x="3398418" y="2369917"/>
            <a:ext cx="460371" cy="2926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115" name="AutoShape 36"/>
          <p:cNvCxnSpPr>
            <a:cxnSpLocks noChangeShapeType="1"/>
            <a:stCxn id="116" idx="2"/>
            <a:endCxn id="118" idx="2"/>
          </p:cNvCxnSpPr>
          <p:nvPr/>
        </p:nvCxnSpPr>
        <p:spPr bwMode="auto">
          <a:xfrm flipH="1">
            <a:off x="1652713" y="3097262"/>
            <a:ext cx="5597" cy="1404223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116" name="AutoShape 37"/>
          <p:cNvSpPr>
            <a:spLocks noChangeArrowheads="1"/>
          </p:cNvSpPr>
          <p:nvPr/>
        </p:nvSpPr>
        <p:spPr bwMode="auto">
          <a:xfrm>
            <a:off x="1190310" y="2746424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기준정보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117" name="AutoShape 38"/>
          <p:cNvCxnSpPr>
            <a:cxnSpLocks noChangeShapeType="1"/>
            <a:stCxn id="135" idx="2"/>
            <a:endCxn id="116" idx="0"/>
          </p:cNvCxnSpPr>
          <p:nvPr/>
        </p:nvCxnSpPr>
        <p:spPr bwMode="auto">
          <a:xfrm rot="5400000">
            <a:off x="2340111" y="1604252"/>
            <a:ext cx="460371" cy="18239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118" name="Text Box 39"/>
          <p:cNvSpPr txBox="1">
            <a:spLocks noChangeArrowheads="1"/>
          </p:cNvSpPr>
          <p:nvPr/>
        </p:nvSpPr>
        <p:spPr bwMode="auto">
          <a:xfrm>
            <a:off x="1166713" y="4106198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가격관리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9" name="Text Box 42"/>
          <p:cNvSpPr txBox="1">
            <a:spLocks noChangeArrowheads="1"/>
          </p:cNvSpPr>
          <p:nvPr/>
        </p:nvSpPr>
        <p:spPr bwMode="auto">
          <a:xfrm>
            <a:off x="1166713" y="363135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고객정보관리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20" name="Text Box 14"/>
          <p:cNvSpPr txBox="1">
            <a:spLocks noChangeArrowheads="1"/>
          </p:cNvSpPr>
          <p:nvPr/>
        </p:nvSpPr>
        <p:spPr bwMode="auto">
          <a:xfrm>
            <a:off x="2239637" y="504993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상품발주</a:t>
            </a:r>
            <a:endParaRPr kumimoji="1" lang="ko-KR" altLang="en-US" sz="1100" kern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21" name="Text Box 15"/>
          <p:cNvSpPr txBox="1">
            <a:spLocks noChangeArrowheads="1"/>
          </p:cNvSpPr>
          <p:nvPr/>
        </p:nvSpPr>
        <p:spPr bwMode="auto">
          <a:xfrm>
            <a:off x="2234826" y="4575453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주문진행관리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23" name="Text Box 31"/>
          <p:cNvSpPr txBox="1">
            <a:spLocks noChangeArrowheads="1"/>
          </p:cNvSpPr>
          <p:nvPr/>
        </p:nvSpPr>
        <p:spPr bwMode="auto">
          <a:xfrm>
            <a:off x="3281286" y="4113832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재고할당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grpSp>
        <p:nvGrpSpPr>
          <p:cNvPr id="124" name="그룹 109"/>
          <p:cNvGrpSpPr/>
          <p:nvPr/>
        </p:nvGrpSpPr>
        <p:grpSpPr>
          <a:xfrm>
            <a:off x="1148023" y="1685978"/>
            <a:ext cx="7679105" cy="600075"/>
            <a:chOff x="1066800" y="1073150"/>
            <a:chExt cx="6282047" cy="600075"/>
          </a:xfrm>
        </p:grpSpPr>
        <p:sp>
          <p:nvSpPr>
            <p:cNvPr id="125" name="AutoShape 17"/>
            <p:cNvSpPr>
              <a:spLocks noChangeArrowheads="1"/>
            </p:cNvSpPr>
            <p:nvPr/>
          </p:nvSpPr>
          <p:spPr bwMode="gray">
            <a:xfrm>
              <a:off x="1881047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A9B1C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spcBef>
                  <a:spcPct val="0"/>
                </a:spcBef>
              </a:pPr>
              <a:r>
                <a:rPr kumimoji="1" lang="en-US" altLang="ko-KR" sz="1100" b="1" ker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01</a:t>
              </a:r>
              <a:br>
                <a:rPr kumimoji="1" lang="en-US" altLang="ko-KR" sz="1100" b="1" ker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1" lang="ko-KR" altLang="en-US" sz="1100" b="1" ker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손익계획</a:t>
              </a:r>
              <a:endParaRPr kumimoji="1" lang="ko-KR" altLang="en-US" sz="1100" b="1" kern="0" dirty="0">
                <a:solidFill>
                  <a:srgbClr val="FFFFFF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6" name="AutoShape 18"/>
            <p:cNvSpPr>
              <a:spLocks noChangeArrowheads="1"/>
            </p:cNvSpPr>
            <p:nvPr/>
          </p:nvSpPr>
          <p:spPr bwMode="gray">
            <a:xfrm>
              <a:off x="3445613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03</a:t>
              </a:r>
              <a:b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품질관리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7" name="AutoShape 19"/>
            <p:cNvSpPr>
              <a:spLocks noChangeArrowheads="1"/>
            </p:cNvSpPr>
            <p:nvPr/>
          </p:nvSpPr>
          <p:spPr bwMode="gray">
            <a:xfrm>
              <a:off x="5010179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05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생산</a:t>
              </a:r>
              <a:endParaRPr kumimoji="0" lang="en-US" altLang="ko-KR" sz="1100" b="1" i="0" u="none" strike="noStrike" kern="0" cap="none" spc="0" normalizeH="0" baseline="3000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8" name="AutoShape 20"/>
            <p:cNvSpPr>
              <a:spLocks noChangeArrowheads="1"/>
            </p:cNvSpPr>
            <p:nvPr/>
          </p:nvSpPr>
          <p:spPr bwMode="gray">
            <a:xfrm>
              <a:off x="1066800" y="1073150"/>
              <a:ext cx="806066" cy="600075"/>
            </a:xfrm>
            <a:prstGeom prst="homePlate">
              <a:avLst>
                <a:gd name="adj" fmla="val 31391"/>
              </a:avLst>
            </a:prstGeom>
            <a:solidFill>
              <a:srgbClr val="A9B1C2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00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기준</a:t>
              </a:r>
              <a:r>
                <a:rPr lang="ko-KR" altLang="en-US" sz="1100" b="1" kern="0" smtClea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정보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9" name="AutoShape 21"/>
            <p:cNvSpPr>
              <a:spLocks noChangeArrowheads="1"/>
            </p:cNvSpPr>
            <p:nvPr/>
          </p:nvSpPr>
          <p:spPr bwMode="gray">
            <a:xfrm>
              <a:off x="5792462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06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출하</a:t>
              </a:r>
              <a:endParaRPr kumimoji="0" lang="en-US" altLang="ko-KR" sz="1100" b="1" i="0" u="none" strike="noStrike" kern="0" cap="none" spc="0" normalizeH="0" baseline="3000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30" name="AutoShape 22"/>
            <p:cNvSpPr>
              <a:spLocks noChangeArrowheads="1"/>
            </p:cNvSpPr>
            <p:nvPr/>
          </p:nvSpPr>
          <p:spPr bwMode="gray">
            <a:xfrm>
              <a:off x="6574745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07</a:t>
              </a:r>
              <a:endPara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원가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34" name="AutoShape 26"/>
            <p:cNvSpPr>
              <a:spLocks noChangeArrowheads="1"/>
            </p:cNvSpPr>
            <p:nvPr/>
          </p:nvSpPr>
          <p:spPr bwMode="gray">
            <a:xfrm>
              <a:off x="4227896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04</a:t>
              </a:r>
              <a:b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생산계획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35" name="AutoShape 17"/>
            <p:cNvSpPr>
              <a:spLocks noChangeArrowheads="1"/>
            </p:cNvSpPr>
            <p:nvPr/>
          </p:nvSpPr>
          <p:spPr bwMode="gray">
            <a:xfrm>
              <a:off x="2663330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1D1F6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02 </a:t>
              </a:r>
              <a:b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영업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</p:grpSp>
      <p:sp>
        <p:nvSpPr>
          <p:cNvPr id="138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145" name="제목 2"/>
          <p:cNvSpPr>
            <a:spLocks noGrp="1"/>
          </p:cNvSpPr>
          <p:nvPr>
            <p:ph type="title"/>
          </p:nvPr>
        </p:nvSpPr>
        <p:spPr>
          <a:xfrm>
            <a:off x="272724" y="576000"/>
            <a:ext cx="9355229" cy="708943"/>
          </a:xfrm>
        </p:spPr>
        <p:txBody>
          <a:bodyPr/>
          <a:lstStyle/>
          <a:p>
            <a:r>
              <a:rPr lang="ko-KR" altLang="en-US" smtClean="0"/>
              <a:t>예시: 영업관리 프로세스는 기준정보·주문관리·재고/출하관리 등 Major 프로세스와</a:t>
            </a:r>
            <a:r>
              <a:rPr lang="en-US" altLang="ko-KR" smtClean="0"/>
              <a:t/>
            </a:r>
            <a:r>
              <a:rPr lang="ko-KR" altLang="en-US" smtClean="0"/>
              <a:t/>
            </a:r>
            <a:r>
              <a:rPr lang="en-US" altLang="ko-KR" smtClean="0"/>
              <a:t/>
            </a:r>
            <a:r>
              <a:rPr lang="ko-KR" altLang="en-US" smtClean="0"/>
              <a:t/>
            </a:r>
            <a:r>
              <a:rPr lang="en-US" altLang="ko-KR" smtClean="0"/>
              <a:t/>
            </a:r>
            <a:r>
              <a:rPr lang="ko-KR" altLang="en-US" smtClean="0"/>
              <a:t/>
            </a:r>
            <a:r>
              <a:rPr lang="en-US" altLang="ko-KR" smtClean="0"/>
              <a:t/>
            </a:r>
            <a:r>
              <a:rPr lang="ko-KR" altLang="en-US" smtClean="0"/>
              <a:t/>
            </a:r>
            <a:r>
              <a:rPr lang="en-US" altLang="ko-KR" smtClean="0"/>
              <a:t/>
            </a:r>
            <a:r>
              <a:rPr lang="ko-KR" altLang="en-US" smtClean="0"/>
              <a:t/>
            </a:r>
            <a:r>
              <a:rPr lang="en-US" altLang="ko-KR" smtClean="0"/>
              <a:t/>
            </a:r>
            <a:r>
              <a:rPr lang="ko-KR" altLang="en-US" smtClean="0"/>
              <a:t> </a:t>
            </a:r>
            <a:r>
              <a:rPr lang="en-US" altLang="ko-KR" smtClean="0"/>
              <a:t>Sub </a:t>
            </a:r>
            <a:r>
              <a:rPr lang="ko-KR" altLang="en-US" smtClean="0"/>
              <a:t>프로세스로 구성됨</a:t>
            </a:r>
            <a:br>
              <a:rPr lang="ko-KR" altLang="en-US" smtClean="0"/>
            </a:br>
            <a:endParaRPr lang="ko-KR" altLang="en-US"/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ko-KR"/>
              <a:t>As-Is </a:t>
            </a:r>
            <a:r>
              <a:rPr lang="ko-KR" altLang="en-US"/>
              <a:t>프로세스 체계 </a:t>
            </a:r>
            <a:r>
              <a:rPr lang="en-US" altLang="ko-KR"/>
              <a:t>– </a:t>
            </a:r>
            <a:r>
              <a:rPr lang="en-US" altLang="ko-KR" smtClean="0"/>
              <a:t>02_</a:t>
            </a:r>
            <a:r>
              <a:rPr lang="ko-KR" altLang="en-US" smtClean="0"/>
              <a:t>영업관리</a:t>
            </a:r>
            <a:r>
              <a:rPr lang="en-US" altLang="ko-KR" smtClean="0"/>
              <a:t>(</a:t>
            </a:r>
            <a:r>
              <a:rPr lang="en-US" altLang="ko-KR"/>
              <a:t>1/2)</a:t>
            </a:r>
          </a:p>
        </p:txBody>
      </p:sp>
      <p:sp>
        <p:nvSpPr>
          <p:cNvPr id="51" name="AutoShape 10"/>
          <p:cNvSpPr>
            <a:spLocks noChangeArrowheads="1"/>
          </p:cNvSpPr>
          <p:nvPr/>
        </p:nvSpPr>
        <p:spPr bwMode="auto">
          <a:xfrm>
            <a:off x="4365231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914400" latinLnBrk="1"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매출채권관리</a:t>
            </a:r>
            <a:endParaRPr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4343099" y="4115072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채권관리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4" name="Text Box 28"/>
          <p:cNvSpPr txBox="1">
            <a:spLocks noChangeArrowheads="1"/>
          </p:cNvSpPr>
          <p:nvPr/>
        </p:nvSpPr>
        <p:spPr bwMode="auto">
          <a:xfrm>
            <a:off x="4343099" y="3640230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매출관리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66" name="AutoShape 13"/>
          <p:cNvCxnSpPr>
            <a:cxnSpLocks noChangeShapeType="1"/>
            <a:stCxn id="135" idx="2"/>
            <a:endCxn id="51" idx="0"/>
          </p:cNvCxnSpPr>
          <p:nvPr/>
        </p:nvCxnSpPr>
        <p:spPr bwMode="auto">
          <a:xfrm rot="16200000" flipH="1">
            <a:off x="3934010" y="1834324"/>
            <a:ext cx="447492" cy="135094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69" name="AutoShape 5"/>
          <p:cNvCxnSpPr>
            <a:cxnSpLocks noChangeShapeType="1"/>
            <a:stCxn id="70" idx="2"/>
            <a:endCxn id="139" idx="0"/>
          </p:cNvCxnSpPr>
          <p:nvPr/>
        </p:nvCxnSpPr>
        <p:spPr bwMode="auto">
          <a:xfrm>
            <a:off x="5891538" y="3084383"/>
            <a:ext cx="2036" cy="1526614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70" name="AutoShape 10"/>
          <p:cNvSpPr>
            <a:spLocks noChangeArrowheads="1"/>
          </p:cNvSpPr>
          <p:nvPr/>
        </p:nvSpPr>
        <p:spPr bwMode="auto">
          <a:xfrm>
            <a:off x="5423538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판촉관리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1" name="Text Box 27"/>
          <p:cNvSpPr txBox="1">
            <a:spLocks noChangeArrowheads="1"/>
          </p:cNvSpPr>
          <p:nvPr/>
        </p:nvSpPr>
        <p:spPr bwMode="auto">
          <a:xfrm>
            <a:off x="5395859" y="4115072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판촉계획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2" name="Text Box 28"/>
          <p:cNvSpPr txBox="1">
            <a:spLocks noChangeArrowheads="1"/>
          </p:cNvSpPr>
          <p:nvPr/>
        </p:nvSpPr>
        <p:spPr bwMode="auto">
          <a:xfrm>
            <a:off x="5395859" y="3640230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판촉실적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73" name="AutoShape 13"/>
          <p:cNvCxnSpPr>
            <a:cxnSpLocks noChangeShapeType="1"/>
            <a:stCxn id="135" idx="2"/>
            <a:endCxn id="70" idx="0"/>
          </p:cNvCxnSpPr>
          <p:nvPr/>
        </p:nvCxnSpPr>
        <p:spPr bwMode="auto">
          <a:xfrm rot="16200000" flipH="1">
            <a:off x="4463164" y="1305171"/>
            <a:ext cx="447492" cy="240925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76" name="AutoShape 5"/>
          <p:cNvCxnSpPr>
            <a:cxnSpLocks noChangeShapeType="1"/>
            <a:stCxn id="77" idx="2"/>
            <a:endCxn id="78" idx="0"/>
          </p:cNvCxnSpPr>
          <p:nvPr/>
        </p:nvCxnSpPr>
        <p:spPr bwMode="auto">
          <a:xfrm flipH="1">
            <a:off x="6943672" y="3084383"/>
            <a:ext cx="6173" cy="1030689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77" name="AutoShape 10"/>
          <p:cNvSpPr>
            <a:spLocks noChangeArrowheads="1"/>
          </p:cNvSpPr>
          <p:nvPr/>
        </p:nvSpPr>
        <p:spPr bwMode="auto">
          <a:xfrm>
            <a:off x="6481845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8" name="Text Box 27"/>
          <p:cNvSpPr txBox="1">
            <a:spLocks noChangeArrowheads="1"/>
          </p:cNvSpPr>
          <p:nvPr/>
        </p:nvSpPr>
        <p:spPr bwMode="auto">
          <a:xfrm>
            <a:off x="6457672" y="4115072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고객클레임관리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457672" y="3640230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고객면담관리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80" name="Text Box 14"/>
          <p:cNvSpPr txBox="1">
            <a:spLocks noChangeArrowheads="1"/>
          </p:cNvSpPr>
          <p:nvPr/>
        </p:nvSpPr>
        <p:spPr bwMode="auto">
          <a:xfrm>
            <a:off x="2239638" y="5560219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외주가공</a:t>
            </a:r>
            <a:endParaRPr kumimoji="1" lang="ko-KR" altLang="en-US" sz="1100" kern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83" name="AutoShape 13"/>
          <p:cNvCxnSpPr>
            <a:cxnSpLocks noChangeShapeType="1"/>
            <a:stCxn id="135" idx="2"/>
            <a:endCxn id="77" idx="0"/>
          </p:cNvCxnSpPr>
          <p:nvPr/>
        </p:nvCxnSpPr>
        <p:spPr bwMode="auto">
          <a:xfrm rot="16200000" flipH="1">
            <a:off x="4992317" y="776017"/>
            <a:ext cx="447492" cy="34675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86" name="Text Box 31"/>
          <p:cNvSpPr txBox="1">
            <a:spLocks noChangeArrowheads="1"/>
          </p:cNvSpPr>
          <p:nvPr/>
        </p:nvSpPr>
        <p:spPr bwMode="auto">
          <a:xfrm>
            <a:off x="3288101" y="4575452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국내출하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87" name="Text Box 31"/>
          <p:cNvSpPr txBox="1">
            <a:spLocks noChangeArrowheads="1"/>
          </p:cNvSpPr>
          <p:nvPr/>
        </p:nvSpPr>
        <p:spPr bwMode="auto">
          <a:xfrm>
            <a:off x="3292655" y="5055914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해외출하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91" name="AutoShape 5"/>
          <p:cNvCxnSpPr>
            <a:cxnSpLocks noChangeShapeType="1"/>
            <a:stCxn id="92" idx="2"/>
            <a:endCxn id="93" idx="0"/>
          </p:cNvCxnSpPr>
          <p:nvPr/>
        </p:nvCxnSpPr>
        <p:spPr bwMode="auto">
          <a:xfrm flipH="1">
            <a:off x="9067300" y="3084383"/>
            <a:ext cx="2666" cy="1021636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92" name="AutoShape 10"/>
          <p:cNvSpPr>
            <a:spLocks noChangeArrowheads="1"/>
          </p:cNvSpPr>
          <p:nvPr/>
        </p:nvSpPr>
        <p:spPr bwMode="auto">
          <a:xfrm>
            <a:off x="8601966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실적관리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3" name="Text Box 27"/>
          <p:cNvSpPr txBox="1">
            <a:spLocks noChangeArrowheads="1"/>
          </p:cNvSpPr>
          <p:nvPr/>
        </p:nvSpPr>
        <p:spPr bwMode="auto">
          <a:xfrm>
            <a:off x="8581300" y="4106019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원가손익분석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4" name="Text Box 28"/>
          <p:cNvSpPr txBox="1">
            <a:spLocks noChangeArrowheads="1"/>
          </p:cNvSpPr>
          <p:nvPr/>
        </p:nvSpPr>
        <p:spPr bwMode="auto">
          <a:xfrm>
            <a:off x="8581300" y="3631177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판매계획관리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95" name="AutoShape 13"/>
          <p:cNvCxnSpPr>
            <a:cxnSpLocks noChangeShapeType="1"/>
            <a:stCxn id="135" idx="2"/>
            <a:endCxn id="92" idx="0"/>
          </p:cNvCxnSpPr>
          <p:nvPr/>
        </p:nvCxnSpPr>
        <p:spPr bwMode="auto">
          <a:xfrm rot="16200000" flipH="1">
            <a:off x="6052378" y="-284043"/>
            <a:ext cx="447492" cy="55876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136" name="Text Box 27"/>
          <p:cNvSpPr txBox="1">
            <a:spLocks noChangeArrowheads="1"/>
          </p:cNvSpPr>
          <p:nvPr/>
        </p:nvSpPr>
        <p:spPr bwMode="auto">
          <a:xfrm>
            <a:off x="7520226" y="4575453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출하지시관리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37" name="Text Box 27"/>
          <p:cNvSpPr txBox="1">
            <a:spLocks noChangeArrowheads="1"/>
          </p:cNvSpPr>
          <p:nvPr/>
        </p:nvSpPr>
        <p:spPr bwMode="auto">
          <a:xfrm>
            <a:off x="7524369" y="5041846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수출채권관리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39" name="Text Box 27"/>
          <p:cNvSpPr txBox="1">
            <a:spLocks noChangeArrowheads="1"/>
          </p:cNvSpPr>
          <p:nvPr/>
        </p:nvSpPr>
        <p:spPr bwMode="auto">
          <a:xfrm>
            <a:off x="5407574" y="4610997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반품관리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715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244726" y="1311275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 defTabSz="914400" latinLnBrk="1"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38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145" name="제목 2"/>
          <p:cNvSpPr>
            <a:spLocks noGrp="1"/>
          </p:cNvSpPr>
          <p:nvPr>
            <p:ph type="title"/>
          </p:nvPr>
        </p:nvSpPr>
        <p:spPr>
          <a:xfrm>
            <a:off x="272724" y="576000"/>
            <a:ext cx="9355229" cy="708943"/>
          </a:xfrm>
        </p:spPr>
        <p:txBody>
          <a:bodyPr/>
          <a:lstStyle/>
          <a:p>
            <a:r>
              <a:rPr lang="ko-KR" altLang="en-US"/>
              <a:t>예시: 영업관리 프로세스는 기준정보·주문관리·재고/출하관리 등 Major 프로세스와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> </a:t>
            </a:r>
            <a:r>
              <a:rPr lang="en-US" altLang="ko-KR"/>
              <a:t>Sub </a:t>
            </a:r>
            <a:r>
              <a:rPr lang="ko-KR" altLang="en-US"/>
              <a:t>프로세스로 구성됨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ko-KR"/>
              <a:t>As-Is </a:t>
            </a:r>
            <a:r>
              <a:rPr lang="ko-KR" altLang="en-US"/>
              <a:t>프로세스 체계 </a:t>
            </a:r>
            <a:r>
              <a:rPr lang="en-US" altLang="ko-KR"/>
              <a:t>– 02_</a:t>
            </a:r>
            <a:r>
              <a:rPr lang="ko-KR" altLang="en-US" smtClean="0"/>
              <a:t>영업관리</a:t>
            </a:r>
            <a:r>
              <a:rPr lang="en-US" altLang="ko-KR" smtClean="0"/>
              <a:t>(1/2</a:t>
            </a:r>
            <a:r>
              <a:rPr lang="en-US" altLang="ko-KR"/>
              <a:t>)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359024" y="1484784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297710" y="3078815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02.01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기준정보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2813540" y="2128813"/>
            <a:ext cx="6211770" cy="609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ko-KR" altLang="en-US" sz="1200"/>
              <a:t>예시 정의 — 고객 주문부터 출하·매출까지 영업 활동 전반을 관리하는 프로세스</a:t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2813626" y="3049469"/>
            <a:ext cx="5643197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 latinLnBrk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고객·가격 등 영업</a:t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 기준정보를 관리하는 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4353954" y="1562576"/>
            <a:ext cx="2612780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>
                <a:solidFill>
                  <a:srgbClr val="000000"/>
                </a:solidFill>
                <a:latin typeface="맑은 고딕" pitchFamily="50" charset="-127"/>
              </a:rPr>
              <a:t>프로세스 정의</a:t>
            </a:r>
          </a:p>
        </p:txBody>
      </p:sp>
      <p:sp>
        <p:nvSpPr>
          <p:cNvPr id="52" name="AutoShape 8"/>
          <p:cNvSpPr>
            <a:spLocks noChangeArrowheads="1"/>
          </p:cNvSpPr>
          <p:nvPr/>
        </p:nvSpPr>
        <p:spPr bwMode="gray">
          <a:xfrm>
            <a:off x="1002323" y="2107655"/>
            <a:ext cx="1689909" cy="500062"/>
          </a:xfrm>
          <a:prstGeom prst="homePlate">
            <a:avLst>
              <a:gd name="adj" fmla="val 34632"/>
            </a:avLst>
          </a:prstGeom>
          <a:solidFill>
            <a:srgbClr val="00206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altLang="ko-KR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02. </a:t>
            </a:r>
            <a:r>
              <a:rPr lang="ko-KR" altLang="en-US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영업관리</a:t>
            </a:r>
            <a:endParaRPr lang="ko-KR" altLang="en-US" sz="1200" b="1" dirty="0">
              <a:solidFill>
                <a:srgbClr val="FFFFFF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1096976" y="1597319"/>
            <a:ext cx="127928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프로세스</a:t>
            </a: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830875" y="1873722"/>
            <a:ext cx="1862503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2892667" y="1874317"/>
            <a:ext cx="55640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ffectLst/>
        </p:spPr>
        <p:txBody>
          <a:bodyPr wrap="none" lIns="18000" tIns="10800" rIns="18000" bIns="10800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1297710" y="387664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02.02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주문관리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2813536" y="3815169"/>
            <a:ext cx="6198584" cy="6953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 smtClean="0"/>
              <a:t> 고객 주문을 등록하고 변경부터 납기 이행까지 주문 진행</a:t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>을 관리하는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1297710" y="469080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02.03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재고출하관리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9" name="Rectangle 15"/>
          <p:cNvSpPr>
            <a:spLocks noChangeArrowheads="1"/>
          </p:cNvSpPr>
          <p:nvPr/>
        </p:nvSpPr>
        <p:spPr bwMode="auto">
          <a:xfrm>
            <a:off x="2813626" y="4662970"/>
            <a:ext cx="6013503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주문과 납기계획에 따라 재고를 배정하고 출하까지</a:t>
            </a:r>
            <a:r>
              <a:rPr lang="ko-KR" altLang="en-US" sz="1200" smtClean="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> 관리하는 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0" name="Rectangle 16"/>
          <p:cNvSpPr>
            <a:spLocks noChangeArrowheads="1"/>
          </p:cNvSpPr>
          <p:nvPr/>
        </p:nvSpPr>
        <p:spPr bwMode="auto">
          <a:xfrm>
            <a:off x="1297710" y="550496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02.04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매출채권관리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2813626" y="5428669"/>
            <a:ext cx="6084196" cy="72008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 smtClean="0"/>
              <a:t> 판매로 발생한 채권의 청구·수금·연체 현황을 관리하는 프로세스</a:t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ko-KR" altLang="en-US" sz="1200" smtClean="0"/>
              <a:t/>
            </a:r>
            <a:r>
              <a:rPr lang="ko-KR" altLang="en-US" sz="1200"/>
              <a:t/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2" name="Line 18"/>
          <p:cNvSpPr>
            <a:spLocks noChangeShapeType="1"/>
          </p:cNvSpPr>
          <p:nvPr/>
        </p:nvSpPr>
        <p:spPr bwMode="auto">
          <a:xfrm>
            <a:off x="2787160" y="2811255"/>
            <a:ext cx="580145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3" name="Oval 19"/>
          <p:cNvSpPr>
            <a:spLocks noChangeArrowheads="1"/>
          </p:cNvSpPr>
          <p:nvPr/>
        </p:nvSpPr>
        <p:spPr bwMode="gray">
          <a:xfrm>
            <a:off x="345834" y="2201496"/>
            <a:ext cx="593481" cy="423863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Mega</a:t>
            </a:r>
          </a:p>
        </p:txBody>
      </p:sp>
      <p:sp>
        <p:nvSpPr>
          <p:cNvPr id="64" name="Oval 20"/>
          <p:cNvSpPr>
            <a:spLocks noChangeArrowheads="1"/>
          </p:cNvSpPr>
          <p:nvPr/>
        </p:nvSpPr>
        <p:spPr bwMode="gray">
          <a:xfrm>
            <a:off x="345834" y="3191347"/>
            <a:ext cx="593481" cy="42386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Major</a:t>
            </a:r>
          </a:p>
        </p:txBody>
      </p:sp>
      <p:cxnSp>
        <p:nvCxnSpPr>
          <p:cNvPr id="65" name="Shape 102"/>
          <p:cNvCxnSpPr>
            <a:endCxn id="48" idx="1"/>
          </p:cNvCxnSpPr>
          <p:nvPr/>
        </p:nvCxnSpPr>
        <p:spPr bwMode="auto">
          <a:xfrm rot="16200000" flipH="1">
            <a:off x="787743" y="2846482"/>
            <a:ext cx="819200" cy="200734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6" name="Shape 103"/>
          <p:cNvCxnSpPr>
            <a:endCxn id="56" idx="1"/>
          </p:cNvCxnSpPr>
          <p:nvPr/>
        </p:nvCxnSpPr>
        <p:spPr bwMode="auto">
          <a:xfrm rot="16200000" flipH="1">
            <a:off x="752904" y="3609654"/>
            <a:ext cx="888968" cy="20064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7" name="Shape 104"/>
          <p:cNvCxnSpPr>
            <a:endCxn id="58" idx="1"/>
          </p:cNvCxnSpPr>
          <p:nvPr/>
        </p:nvCxnSpPr>
        <p:spPr bwMode="auto">
          <a:xfrm rot="16200000" flipH="1">
            <a:off x="754115" y="4425025"/>
            <a:ext cx="886548" cy="200641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8" name="Shape 105"/>
          <p:cNvCxnSpPr>
            <a:endCxn id="60" idx="1"/>
          </p:cNvCxnSpPr>
          <p:nvPr/>
        </p:nvCxnSpPr>
        <p:spPr bwMode="auto">
          <a:xfrm rot="16200000" flipH="1">
            <a:off x="796191" y="5281082"/>
            <a:ext cx="802308" cy="20073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2739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244726" y="1311275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 defTabSz="914400" latinLnBrk="1"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38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145" name="제목 2"/>
          <p:cNvSpPr>
            <a:spLocks noGrp="1"/>
          </p:cNvSpPr>
          <p:nvPr>
            <p:ph type="title"/>
          </p:nvPr>
        </p:nvSpPr>
        <p:spPr>
          <a:xfrm>
            <a:off x="272724" y="576000"/>
            <a:ext cx="9355229" cy="708943"/>
          </a:xfrm>
        </p:spPr>
        <p:txBody>
          <a:bodyPr/>
          <a:lstStyle/>
          <a:p>
            <a:r>
              <a:rPr lang="ko-KR" altLang="en-US"/>
              <a:t>예시: 영업관리 프로세스는 기준정보·주문관리·재고/출하관리 등 Major 프로세스와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> </a:t>
            </a:r>
            <a:r>
              <a:rPr lang="en-US" altLang="ko-KR"/>
              <a:t>Sub </a:t>
            </a:r>
            <a:r>
              <a:rPr lang="ko-KR" altLang="en-US"/>
              <a:t>프로세스로 구성됨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ko-KR"/>
              <a:t>As-Is </a:t>
            </a:r>
            <a:r>
              <a:rPr lang="ko-KR" altLang="en-US"/>
              <a:t>프로세스 체계 </a:t>
            </a:r>
            <a:r>
              <a:rPr lang="en-US" altLang="ko-KR"/>
              <a:t>– 02_</a:t>
            </a:r>
            <a:r>
              <a:rPr lang="ko-KR" altLang="en-US" smtClean="0"/>
              <a:t>영업관리</a:t>
            </a:r>
            <a:r>
              <a:rPr lang="en-US" altLang="ko-KR" smtClean="0"/>
              <a:t>(2/2</a:t>
            </a:r>
            <a:r>
              <a:rPr lang="en-US" altLang="ko-KR"/>
              <a:t>)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359024" y="1484784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297710" y="3078815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02.01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판촉관리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2813540" y="2128813"/>
            <a:ext cx="6211770" cy="609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ko-KR" altLang="en-US" sz="1200"/>
              <a:t>예시 정의 — 고객 주문부터 출하·매출까지 영업 활동 전반을 관리하는 프로세스</a:t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2813626" y="3049469"/>
            <a:ext cx="5643197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 latinLnBrk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판촉 계획을 세우고 실적을 관리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/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하는 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4353954" y="1562576"/>
            <a:ext cx="2612780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>
                <a:solidFill>
                  <a:srgbClr val="000000"/>
                </a:solidFill>
                <a:latin typeface="맑은 고딕" pitchFamily="50" charset="-127"/>
              </a:rPr>
              <a:t>프로세스 정의</a:t>
            </a:r>
          </a:p>
        </p:txBody>
      </p:sp>
      <p:sp>
        <p:nvSpPr>
          <p:cNvPr id="52" name="AutoShape 8"/>
          <p:cNvSpPr>
            <a:spLocks noChangeArrowheads="1"/>
          </p:cNvSpPr>
          <p:nvPr/>
        </p:nvSpPr>
        <p:spPr bwMode="gray">
          <a:xfrm>
            <a:off x="1002323" y="2107655"/>
            <a:ext cx="1689909" cy="500062"/>
          </a:xfrm>
          <a:prstGeom prst="homePlate">
            <a:avLst>
              <a:gd name="adj" fmla="val 34632"/>
            </a:avLst>
          </a:prstGeom>
          <a:solidFill>
            <a:srgbClr val="00206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altLang="ko-KR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02. </a:t>
            </a:r>
            <a:r>
              <a:rPr lang="ko-KR" altLang="en-US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영업관리</a:t>
            </a:r>
            <a:endParaRPr lang="ko-KR" altLang="en-US" sz="1200" b="1" dirty="0">
              <a:solidFill>
                <a:srgbClr val="FFFFFF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1096976" y="1597319"/>
            <a:ext cx="127928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프로세스</a:t>
            </a: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830875" y="1873722"/>
            <a:ext cx="1862503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2892667" y="1874317"/>
            <a:ext cx="55640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ffectLst/>
        </p:spPr>
        <p:txBody>
          <a:bodyPr wrap="none" lIns="18000" tIns="10800" rIns="18000" bIns="10800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1297710" y="387664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02.02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고객관리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2813535" y="3815169"/>
            <a:ext cx="6084287" cy="6953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 smtClean="0"/>
              <a:t> 고객 정보와 상담·클레임 이력을 관리하는</a:t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ko-KR" altLang="en-US" sz="1200" smtClean="0"/>
              <a:t/>
            </a:r>
            <a:r>
              <a:rPr lang="en-US" altLang="ko-KR" sz="1200" smtClean="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>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1297710" y="469080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02.03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수출관리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9" name="Rectangle 15"/>
          <p:cNvSpPr>
            <a:spLocks noChangeArrowheads="1"/>
          </p:cNvSpPr>
          <p:nvPr/>
        </p:nvSpPr>
        <p:spPr bwMode="auto">
          <a:xfrm>
            <a:off x="2813626" y="4662970"/>
            <a:ext cx="6375641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/>
              <a:t>수출 주문의 선적·서류·대금 회수까지 수출 이행을 관리하는</a:t>
            </a:r>
            <a:r>
              <a:rPr lang="ko-KR" altLang="en-US" sz="1200" smtClean="0"/>
              <a:t/>
            </a:r>
            <a:r>
              <a:rPr lang="en-US" altLang="ko-KR" sz="1200" smtClean="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/>
            </a:r>
            <a:r>
              <a:rPr lang="en-US" altLang="ko-KR" sz="1200"/>
              <a:t/>
            </a:r>
            <a:r>
              <a:rPr lang="ko-KR" altLang="en-US" sz="1200"/>
              <a:t>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0" name="Rectangle 16"/>
          <p:cNvSpPr>
            <a:spLocks noChangeArrowheads="1"/>
          </p:cNvSpPr>
          <p:nvPr/>
        </p:nvSpPr>
        <p:spPr bwMode="auto">
          <a:xfrm>
            <a:off x="1297710" y="550496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02.04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실적관리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2813626" y="5428669"/>
            <a:ext cx="6450510" cy="72008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/>
              <a:t>판매계획 대비 실적과 차이 원인을 분석해 다음 계획에 반영하는</a:t>
            </a:r>
            <a:r>
              <a:rPr lang="en-US" altLang="ko-KR" sz="1200"/>
              <a:t/>
            </a:r>
            <a:r>
              <a:rPr lang="ko-KR" altLang="en-US" sz="1200"/>
              <a:t>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2" name="Line 18"/>
          <p:cNvSpPr>
            <a:spLocks noChangeShapeType="1"/>
          </p:cNvSpPr>
          <p:nvPr/>
        </p:nvSpPr>
        <p:spPr bwMode="auto">
          <a:xfrm>
            <a:off x="2787160" y="2811255"/>
            <a:ext cx="580145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3" name="Oval 19"/>
          <p:cNvSpPr>
            <a:spLocks noChangeArrowheads="1"/>
          </p:cNvSpPr>
          <p:nvPr/>
        </p:nvSpPr>
        <p:spPr bwMode="gray">
          <a:xfrm>
            <a:off x="345834" y="2201496"/>
            <a:ext cx="593481" cy="423863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Mega</a:t>
            </a:r>
          </a:p>
        </p:txBody>
      </p:sp>
      <p:sp>
        <p:nvSpPr>
          <p:cNvPr id="64" name="Oval 20"/>
          <p:cNvSpPr>
            <a:spLocks noChangeArrowheads="1"/>
          </p:cNvSpPr>
          <p:nvPr/>
        </p:nvSpPr>
        <p:spPr bwMode="gray">
          <a:xfrm>
            <a:off x="345834" y="3191347"/>
            <a:ext cx="593481" cy="42386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Major</a:t>
            </a:r>
          </a:p>
        </p:txBody>
      </p:sp>
      <p:cxnSp>
        <p:nvCxnSpPr>
          <p:cNvPr id="65" name="Shape 102"/>
          <p:cNvCxnSpPr>
            <a:endCxn id="48" idx="1"/>
          </p:cNvCxnSpPr>
          <p:nvPr/>
        </p:nvCxnSpPr>
        <p:spPr bwMode="auto">
          <a:xfrm rot="16200000" flipH="1">
            <a:off x="787743" y="2846482"/>
            <a:ext cx="819200" cy="200734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6" name="Shape 103"/>
          <p:cNvCxnSpPr>
            <a:endCxn id="56" idx="1"/>
          </p:cNvCxnSpPr>
          <p:nvPr/>
        </p:nvCxnSpPr>
        <p:spPr bwMode="auto">
          <a:xfrm rot="16200000" flipH="1">
            <a:off x="752904" y="3609654"/>
            <a:ext cx="888968" cy="20064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7" name="Shape 104"/>
          <p:cNvCxnSpPr>
            <a:endCxn id="58" idx="1"/>
          </p:cNvCxnSpPr>
          <p:nvPr/>
        </p:nvCxnSpPr>
        <p:spPr bwMode="auto">
          <a:xfrm rot="16200000" flipH="1">
            <a:off x="754115" y="4425025"/>
            <a:ext cx="886548" cy="200641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8" name="Shape 105"/>
          <p:cNvCxnSpPr>
            <a:endCxn id="60" idx="1"/>
          </p:cNvCxnSpPr>
          <p:nvPr/>
        </p:nvCxnSpPr>
        <p:spPr bwMode="auto">
          <a:xfrm rot="16200000" flipH="1">
            <a:off x="796191" y="5281082"/>
            <a:ext cx="802308" cy="20073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534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smtClean="0"/>
              <a:t>영역별 이슈 종합 </a:t>
            </a:r>
            <a:r>
              <a:rPr lang="en-US" altLang="ko-KR" smtClean="0"/>
              <a:t>– 02_</a:t>
            </a:r>
            <a:r>
              <a:rPr lang="ko-KR" altLang="en-US" smtClean="0"/>
              <a:t>영업관리</a:t>
            </a:r>
            <a:endParaRPr lang="en-US" altLang="ko-KR"/>
          </a:p>
        </p:txBody>
      </p:sp>
      <p:sp>
        <p:nvSpPr>
          <p:cNvPr id="48" name="직사각형 47"/>
          <p:cNvSpPr/>
          <p:nvPr/>
        </p:nvSpPr>
        <p:spPr bwMode="auto">
          <a:xfrm>
            <a:off x="276545" y="635683"/>
            <a:ext cx="976479" cy="82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>
              <a:spcBef>
                <a:spcPct val="20000"/>
              </a:spcBef>
              <a:spcAft>
                <a:spcPct val="0"/>
              </a:spcAft>
              <a:buClr>
                <a:srgbClr val="1D1F6F"/>
              </a:buClr>
              <a:buFont typeface="Wingdings" pitchFamily="2" charset="2"/>
              <a:buNone/>
            </a:pPr>
            <a:r>
              <a:rPr lang="en-US" altLang="ko-KR" sz="11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Major Process</a:t>
            </a:r>
            <a:endParaRPr lang="ko-KR" altLang="en-US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1206584" y="635683"/>
            <a:ext cx="2630629" cy="82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7313" eaLnBrk="0" latinLnBrk="0">
              <a:spcBef>
                <a:spcPct val="20000"/>
              </a:spcBef>
              <a:buClr>
                <a:srgbClr val="1D1F6F"/>
              </a:buClr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02.02 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주문관리</a:t>
            </a:r>
            <a:endParaRPr lang="ko-KR" altLang="en-US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3829210" y="635683"/>
            <a:ext cx="906691" cy="82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>
              <a:spcBef>
                <a:spcPct val="20000"/>
              </a:spcBef>
              <a:spcAft>
                <a:spcPct val="0"/>
              </a:spcAft>
              <a:buClr>
                <a:srgbClr val="1D1F6F"/>
              </a:buClr>
              <a:buFont typeface="Wingdings" pitchFamily="2" charset="2"/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주관부서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4735902" y="635683"/>
            <a:ext cx="2005684" cy="82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7313" indent="-87313" ea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국내영업팀</a:t>
            </a:r>
            <a:r>
              <a:rPr lang="en-US" altLang="ko-KR" sz="1100" b="1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endParaRPr lang="en-US" altLang="ko-KR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해외영업팀</a:t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endParaRPr lang="ko-KR" altLang="en-US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6741586" y="635683"/>
            <a:ext cx="906691" cy="82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>
              <a:spcBef>
                <a:spcPct val="20000"/>
              </a:spcBef>
              <a:spcAft>
                <a:spcPct val="0"/>
              </a:spcAft>
              <a:buClr>
                <a:srgbClr val="1D1F6F"/>
              </a:buClr>
              <a:buFont typeface="Wingdings" pitchFamily="2" charset="2"/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관련 시스템</a:t>
            </a:r>
          </a:p>
        </p:txBody>
      </p:sp>
      <p:sp>
        <p:nvSpPr>
          <p:cNvPr id="53" name="직사각형 52"/>
          <p:cNvSpPr/>
          <p:nvPr/>
        </p:nvSpPr>
        <p:spPr bwMode="auto">
          <a:xfrm>
            <a:off x="7605156" y="635683"/>
            <a:ext cx="1958997" cy="82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ERP 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영업 모듈</a:t>
            </a:r>
            <a:endParaRPr lang="en-US" altLang="ko-KR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온라인 주문 포털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endParaRPr lang="en-US" altLang="ko-KR" sz="1100" b="1" smtClea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생산관리 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시스템</a:t>
            </a:r>
            <a:endParaRPr lang="en-US" altLang="ko-KR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graphicFrame>
        <p:nvGraphicFramePr>
          <p:cNvPr id="5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953020"/>
              </p:ext>
            </p:extLst>
          </p:nvPr>
        </p:nvGraphicFramePr>
        <p:xfrm>
          <a:off x="276546" y="1522812"/>
          <a:ext cx="9287608" cy="4662982"/>
        </p:xfrm>
        <a:graphic>
          <a:graphicData uri="http://schemas.openxmlformats.org/drawingml/2006/table">
            <a:tbl>
              <a:tblPr/>
              <a:tblGrid>
                <a:gridCol w="981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6528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명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내용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 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Sub Process)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원천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527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algn="ctr" fontAlgn="ctr" latinLnBrk="0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ISS-02-01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예시 이슈 1 — 계획 단위가 커서 세부 손익 분석이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어려움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계획과 실적의 집계 단위가 달라 차이 원인 분석이 어려움</a:t>
                      </a:r>
                      <a:endParaRPr lang="en-US" altLang="ko-K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판매계획관리</a:t>
                      </a:r>
                      <a:endParaRPr kumimoji="1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1450" indent="-171450"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산출물</a:t>
                      </a:r>
                      <a:endParaRPr kumimoji="1" lang="en-US" altLang="ko-KR" sz="1100" b="0" i="0" u="none" strike="noStrike" kern="1200" baseline="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인터뷰</a:t>
                      </a:r>
                      <a:endParaRPr kumimoji="1" lang="en-US" altLang="ko-KR" sz="1100" b="0" i="0" u="none" strike="noStrike" kern="1200" baseline="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8098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+mn-ea"/>
                          <a:cs typeface="+mn-cs"/>
                        </a:rPr>
                        <a:t>ISS-02-02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예시 이슈 2 — 견적 산출 기준이 담당자마다 다름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smtClean="0"/>
                        <a:t>견적 산출 기준이 표준화되지 않아 담당자별 결과 편차가 큼</a:t>
                      </a:r>
                      <a:r>
                        <a:rPr lang="en-US" altLang="ko-KR" sz="1100" smtClean="0"/>
                        <a:t/>
                      </a:r>
                      <a:r>
                        <a:rPr lang="ko-KR" altLang="en-US" sz="1100" smtClean="0"/>
                        <a:t/>
                      </a:r>
                      <a:r>
                        <a:rPr lang="en-US" altLang="ko-KR" sz="1100" smtClean="0"/>
                        <a:t/>
                      </a:r>
                      <a:r>
                        <a:rPr lang="ko-KR" altLang="en-US" sz="1100" smtClean="0"/>
                        <a:t/>
                      </a:r>
                      <a:endParaRPr lang="en-US" altLang="ko-KR" sz="1100" smtClean="0"/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신규 견적 산출에 시간이 많이 소요됨</a:t>
                      </a:r>
                      <a:endPara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견적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관리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8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+mn-ea"/>
                          <a:cs typeface="+mn-cs"/>
                        </a:rPr>
                        <a:t>ISS-02-03</a:t>
                      </a:r>
                      <a:endParaRPr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예시 이슈 3 — 주문 입력 업무 부담과 입력 오류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 입력 항목이 많아 입력 오류 가능성이 높음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여러 채널로 받은 주문을 수기로 옮겨 입력함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 입력에 업무 시간의 상당 부분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이 소요됨</a:t>
                      </a:r>
                      <a:endPara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주문접수</a:t>
                      </a:r>
                      <a:r>
                        <a:rPr kumimoji="1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/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등록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7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/>
              <a:t>영역별 이슈 종합 </a:t>
            </a:r>
            <a:r>
              <a:rPr lang="en-US" altLang="ko-KR"/>
              <a:t>– 02_</a:t>
            </a:r>
            <a:r>
              <a:rPr lang="ko-KR" altLang="en-US"/>
              <a:t>영업관리</a:t>
            </a:r>
            <a:endParaRPr lang="en-US" altLang="ko-KR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167596"/>
              </p:ext>
            </p:extLst>
          </p:nvPr>
        </p:nvGraphicFramePr>
        <p:xfrm>
          <a:off x="279578" y="642241"/>
          <a:ext cx="9280800" cy="5553338"/>
        </p:xfrm>
        <a:graphic>
          <a:graphicData uri="http://schemas.openxmlformats.org/drawingml/2006/table">
            <a:tbl>
              <a:tblPr/>
              <a:tblGrid>
                <a:gridCol w="916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617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명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내용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원천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383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ISS-02-04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예시 이슈 4 — 주문 진행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정보가 부정확함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담당자별 개인 파일로 주문 현황을 관리해 최신 정보가 반영되지 않음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1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파일 형식이 제각각이라 통합 조회와 업무 대체가 어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려움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주문접수</a:t>
                      </a:r>
                      <a:r>
                        <a:rPr kumimoji="1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/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등록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기존</a:t>
                      </a: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산출물</a:t>
                      </a:r>
                      <a:endParaRPr lang="en-US" altLang="ko-KR" sz="1100" b="0" i="0" u="none" strike="noStrike" kern="120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750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ISS-02-05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예시 이슈 5 — 제품별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원가 정보 신뢰성 저하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제품별 원가 배분 기준이 정교하지 않아 원가가 왜곡됨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원가손익분석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282265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ISS-02-06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예시 이슈 6 — 현장 업무 환경 미흡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외부에서 업무 시스템을 조회·처리하기 어려움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원격 접속에 시간이 많이 소요됨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모바일에서 재고·견적 조회가 불가함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주문진행관리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761222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ISS-02-07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예시 이슈 7 — 출하 요청이 오프라인으로 처리됨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/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/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출하 요청을 메일로 주고받아 누락과 재확인이 잦음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altLang="ko-KR" sz="11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출하 취소가 관련 부서에 제때 전달되지 않음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해외출하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14910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ISS-02-08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예시 이슈 8 — 계획 대비 실적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차이 분석 어려움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계획 대비 실적 차이 원인이 명확하게 설명되지 않음</a:t>
                      </a:r>
                      <a:endParaRPr lang="en-US" altLang="ko-KR" sz="11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실적 데이터 추출에 시간이 소요됨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원가손익분석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데이터 분석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02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91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smtClean="0"/>
              <a:t>이슈별 원인 분석 </a:t>
            </a:r>
            <a:r>
              <a:rPr lang="en-US" altLang="ko-KR" smtClean="0"/>
              <a:t>– </a:t>
            </a:r>
            <a:r>
              <a:rPr lang="en-US" altLang="ko-KR" smtClean="0"/>
              <a:t>02_</a:t>
            </a:r>
            <a:r>
              <a:rPr lang="ko-KR" altLang="en-US" smtClean="0"/>
              <a:t>영업관리</a:t>
            </a:r>
            <a:endParaRPr lang="en-US" altLang="ko-KR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780735"/>
              </p:ext>
            </p:extLst>
          </p:nvPr>
        </p:nvGraphicFramePr>
        <p:xfrm>
          <a:off x="287762" y="2880057"/>
          <a:ext cx="9272616" cy="2014558"/>
        </p:xfrm>
        <a:graphic>
          <a:graphicData uri="http://schemas.openxmlformats.org/drawingml/2006/table">
            <a:tbl>
              <a:tblPr/>
              <a:tblGrid>
                <a:gridCol w="90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원인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Category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원인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분석 내용</a:t>
                      </a:r>
                    </a:p>
                  </a:txBody>
                  <a:tcPr marL="84420" marR="8442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7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090" marR="83090" marT="46800" marB="468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여러 채널의 주문 내역을 시스템에 옮기는 과정에서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오류가 많음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  -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주문 양식이 표준화되지 않아 자동 전환이 어려움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입력 항목이 많고 필수값 자동 점검 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/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기능이 부족함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일부 주문은 오프라인으로 접수되어 수기 입력이 필요함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고객이 직접 주문을 입력할 수 있는 채널이 없음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83090" marR="83090" marT="46800" marB="468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51320"/>
              </p:ext>
            </p:extLst>
          </p:nvPr>
        </p:nvGraphicFramePr>
        <p:xfrm>
          <a:off x="279578" y="642241"/>
          <a:ext cx="9280800" cy="1394439"/>
        </p:xfrm>
        <a:graphic>
          <a:graphicData uri="http://schemas.openxmlformats.org/drawingml/2006/table">
            <a:tbl>
              <a:tblPr/>
              <a:tblGrid>
                <a:gridCol w="916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617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명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내용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원천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+mn-ea"/>
                          <a:cs typeface="+mn-cs"/>
                        </a:rPr>
                        <a:t>ISS-02-03</a:t>
                      </a:r>
                      <a:endParaRPr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예시 이슈 3 — 주문 입력 업무 부담과 입력 오류</a:t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/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 입력 항목이 많아 입력 오류 가능성이 높음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여러 채널로 받은 주문을 수기로 옮겨 입력함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 입력에 업무 시간의 상당 부분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/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이 소요됨</a:t>
                      </a:r>
                      <a:endPara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주문접수</a:t>
                      </a:r>
                      <a:r>
                        <a:rPr kumimoji="1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/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등록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80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3429886"/>
            <a:ext cx="3421424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8" y="2442367"/>
            <a:ext cx="51412" cy="1340084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이슈 분석 </a:t>
            </a:r>
            <a:r>
              <a:rPr lang="en-US" altLang="ko-KR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Approach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영역별 이슈 및 원인분석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개선기회 도출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46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</p:spPr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_프로젝트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281595" y="1187790"/>
            <a:ext cx="2231114" cy="28814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square" lIns="36000" tIns="36000" rIns="36000" bIns="36000">
            <a:spAutoFit/>
          </a:bodyPr>
          <a:lstStyle/>
          <a:p>
            <a:pPr algn="ctr" defTabSz="914400" eaLnBrk="0" hangingPunct="0"/>
            <a:r>
              <a:rPr kumimoji="1" lang="ko-KR" altLang="en-US" sz="14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개선기회</a:t>
            </a: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673426" y="1187790"/>
            <a:ext cx="1794711" cy="28814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square" lIns="36000" tIns="36000" rIns="36000" bIns="36000">
            <a:spAutoFit/>
          </a:bodyPr>
          <a:lstStyle/>
          <a:p>
            <a:pPr algn="ctr" defTabSz="914400" eaLnBrk="0" hangingPunct="0"/>
            <a:r>
              <a:rPr kumimoji="1" lang="ko-KR" altLang="en-US" sz="14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주요 이슈</a:t>
            </a: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gray">
          <a:xfrm>
            <a:off x="5750817" y="3387420"/>
            <a:ext cx="3024000" cy="72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algn="ctr" defTabSz="914400">
              <a:defRPr/>
            </a:pPr>
            <a:r>
              <a:rPr lang="ko-KR" altLang="en-US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예시 개선기회 — 주문 업무 자동화와</a:t>
            </a:r>
            <a:r>
              <a:rPr lang="ko-KR" altLang="en-US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en-US" altLang="ko-KR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ko-KR" altLang="en-US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ko-KR" altLang="en-US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/>
            </a:r>
            <a:r>
              <a:rPr lang="ko-KR" altLang="en-US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데이터 기반 영업체계 구축</a:t>
            </a:r>
            <a:endParaRPr lang="ko-KR" altLang="en-US" sz="1200" b="1" kern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46" name="직사각형 175"/>
          <p:cNvSpPr>
            <a:spLocks noChangeArrowheads="1"/>
          </p:cNvSpPr>
          <p:nvPr/>
        </p:nvSpPr>
        <p:spPr bwMode="auto">
          <a:xfrm>
            <a:off x="5749829" y="3387421"/>
            <a:ext cx="265846" cy="288000"/>
          </a:xfrm>
          <a:prstGeom prst="rect">
            <a:avLst/>
          </a:prstGeom>
          <a:solidFill>
            <a:srgbClr val="041C43"/>
          </a:solidFill>
          <a:ln w="9525" algn="ctr">
            <a:solidFill>
              <a:srgbClr val="002060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914400"/>
            <a:r>
              <a:rPr lang="en-US" altLang="ko-KR" sz="1200" b="1" dirty="0">
                <a:solidFill>
                  <a:srgbClr val="FFFFFF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sym typeface="Wingdings 2" pitchFamily="18" charset="2"/>
              </a:rPr>
              <a:t>1</a:t>
            </a:r>
            <a:endParaRPr lang="ko-KR" altLang="en-US" sz="1200" b="1" dirty="0">
              <a:solidFill>
                <a:srgbClr val="FFFFFF"/>
              </a:solidFill>
              <a:latin typeface="본고딕 Normal" panose="020B0400000000000000" pitchFamily="34" charset="-127"/>
              <a:ea typeface="본고딕 Normal" panose="020B0400000000000000" pitchFamily="34" charset="-127"/>
              <a:sym typeface="Wingdings 2" pitchFamily="18" charset="2"/>
            </a:endParaRPr>
          </a:p>
        </p:txBody>
      </p:sp>
      <p:grpSp>
        <p:nvGrpSpPr>
          <p:cNvPr id="47" name="그룹 30"/>
          <p:cNvGrpSpPr/>
          <p:nvPr/>
        </p:nvGrpSpPr>
        <p:grpSpPr>
          <a:xfrm>
            <a:off x="432286" y="1742208"/>
            <a:ext cx="4253023" cy="468000"/>
            <a:chOff x="344488" y="1774864"/>
            <a:chExt cx="4607442" cy="720000"/>
          </a:xfrm>
        </p:grpSpPr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1424510" y="1774864"/>
              <a:ext cx="3527420" cy="72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lvl="0" defTabSz="914400" fontAlgn="base">
                <a:spcBef>
                  <a:spcPct val="25000"/>
                </a:spcBef>
                <a:spcAft>
                  <a:spcPct val="0"/>
                </a:spcAft>
              </a:pPr>
              <a:r>
                <a:rPr kumimoji="1" lang="ko-KR" altLang="en-US" sz="1200">
                  <a:latin typeface="+mj-ea"/>
                </a:rPr>
                <a:t>예시 이슈 1 — 계획 단위가 커서 세부 손익 분석이 어려움</a:t>
              </a:r>
              <a:endParaRPr kumimoji="1" lang="ko-KR" altLang="en-US" sz="1200" dirty="0">
                <a:latin typeface="+mj-ea"/>
              </a:endParaRPr>
            </a:p>
          </p:txBody>
        </p:sp>
        <p:sp>
          <p:nvSpPr>
            <p:cNvPr id="49" name="Rectangle 13"/>
            <p:cNvSpPr>
              <a:spLocks noChangeArrowheads="1"/>
            </p:cNvSpPr>
            <p:nvPr/>
          </p:nvSpPr>
          <p:spPr bwMode="gray">
            <a:xfrm>
              <a:off x="344488" y="1774864"/>
              <a:ext cx="1008112" cy="7200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72000" rIns="36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ISS-02-01</a:t>
              </a:r>
              <a:endPara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</p:grpSp>
      <p:cxnSp>
        <p:nvCxnSpPr>
          <p:cNvPr id="50" name="꺾인 연결선 49"/>
          <p:cNvCxnSpPr>
            <a:stCxn id="48" idx="3"/>
            <a:endCxn id="45" idx="1"/>
          </p:cNvCxnSpPr>
          <p:nvPr/>
        </p:nvCxnSpPr>
        <p:spPr bwMode="auto">
          <a:xfrm>
            <a:off x="4685309" y="1976208"/>
            <a:ext cx="1065508" cy="1771212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sp>
        <p:nvSpPr>
          <p:cNvPr id="51" name="Line 10"/>
          <p:cNvSpPr>
            <a:spLocks noChangeShapeType="1"/>
          </p:cNvSpPr>
          <p:nvPr/>
        </p:nvSpPr>
        <p:spPr bwMode="auto">
          <a:xfrm>
            <a:off x="444009" y="1491640"/>
            <a:ext cx="425353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>
            <a:off x="5753669" y="1491640"/>
            <a:ext cx="3024000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gray">
          <a:xfrm>
            <a:off x="1429229" y="2444487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예시 이슈 6 — 현장 업무 환경 미흡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gray">
          <a:xfrm>
            <a:off x="432286" y="2444487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ISS-02-06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gray">
          <a:xfrm>
            <a:off x="1429229" y="3181222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예시 이슈 2 — 견적 산출 기준이 담당자마다 다름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gray">
          <a:xfrm>
            <a:off x="432286" y="3181222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ISS-02-02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gray">
          <a:xfrm>
            <a:off x="1429229" y="3917957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예시 이슈 5 — 제품별 원가 정보 신뢰성 저하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61" name="Rectangle 13"/>
          <p:cNvSpPr>
            <a:spLocks noChangeArrowheads="1"/>
          </p:cNvSpPr>
          <p:nvPr/>
        </p:nvSpPr>
        <p:spPr bwMode="gray">
          <a:xfrm>
            <a:off x="432286" y="3917957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ISS-02-05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63" name="Rectangle 13"/>
          <p:cNvSpPr>
            <a:spLocks noChangeArrowheads="1"/>
          </p:cNvSpPr>
          <p:nvPr/>
        </p:nvSpPr>
        <p:spPr bwMode="gray">
          <a:xfrm>
            <a:off x="1429229" y="4654692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예시 이슈 4 — 주문 진행 정보가 부정확함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64" name="Rectangle 13"/>
          <p:cNvSpPr>
            <a:spLocks noChangeArrowheads="1"/>
          </p:cNvSpPr>
          <p:nvPr/>
        </p:nvSpPr>
        <p:spPr bwMode="gray">
          <a:xfrm>
            <a:off x="432286" y="4654692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ISS-02-04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71" name="꺾인 연결선 70"/>
          <p:cNvCxnSpPr>
            <a:stCxn id="54" idx="3"/>
            <a:endCxn id="45" idx="1"/>
          </p:cNvCxnSpPr>
          <p:nvPr/>
        </p:nvCxnSpPr>
        <p:spPr bwMode="auto">
          <a:xfrm>
            <a:off x="4685309" y="2678487"/>
            <a:ext cx="1065508" cy="1068933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72" name="꺾인 연결선 71"/>
          <p:cNvCxnSpPr>
            <a:stCxn id="57" idx="3"/>
            <a:endCxn id="45" idx="1"/>
          </p:cNvCxnSpPr>
          <p:nvPr/>
        </p:nvCxnSpPr>
        <p:spPr bwMode="auto">
          <a:xfrm>
            <a:off x="4685309" y="3415222"/>
            <a:ext cx="1065508" cy="332198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73" name="꺾인 연결선 72"/>
          <p:cNvCxnSpPr>
            <a:stCxn id="60" idx="3"/>
            <a:endCxn id="45" idx="1"/>
          </p:cNvCxnSpPr>
          <p:nvPr/>
        </p:nvCxnSpPr>
        <p:spPr bwMode="auto">
          <a:xfrm flipV="1">
            <a:off x="4685309" y="3747420"/>
            <a:ext cx="1065508" cy="404537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74" name="꺾인 연결선 73"/>
          <p:cNvCxnSpPr>
            <a:stCxn id="63" idx="3"/>
            <a:endCxn id="45" idx="1"/>
          </p:cNvCxnSpPr>
          <p:nvPr/>
        </p:nvCxnSpPr>
        <p:spPr bwMode="auto">
          <a:xfrm flipV="1">
            <a:off x="4685309" y="3747420"/>
            <a:ext cx="1065508" cy="1141272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sp>
        <p:nvSpPr>
          <p:cNvPr id="82" name="텍스트 개체 틀 81"/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r>
              <a:rPr lang="ko-KR" altLang="en-US" smtClean="0"/>
              <a:t>이슈별 개선기회 도출</a:t>
            </a:r>
            <a:endParaRPr lang="en-US" altLang="ko-KR" smtClean="0"/>
          </a:p>
        </p:txBody>
      </p:sp>
      <p:sp>
        <p:nvSpPr>
          <p:cNvPr id="89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700" smtClean="0">
                <a:latin typeface="+mj-ea"/>
              </a:rPr>
              <a:t>02-</a:t>
            </a:r>
            <a:r>
              <a:rPr lang="ko-KR" altLang="en-US" sz="1700" smtClean="0">
                <a:latin typeface="+mj-ea"/>
              </a:rPr>
              <a:t>영업관리 </a:t>
            </a:r>
            <a:endParaRPr lang="ko-KR" altLang="en-US" sz="170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D-Flow">
      <a:dk1>
        <a:srgbClr val="262626"/>
      </a:dk1>
      <a:lt1>
        <a:srgbClr val="FFFFFF"/>
      </a:lt1>
      <a:dk2>
        <a:srgbClr val="334155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0F766E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D-Flow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A4 용지(210x297mm)</PresentationFormat>
  <Paragraphs>0</Paragraphs>
  <Slides>12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돋움</vt:lpstr>
      <vt:lpstr>맑은 고딕</vt:lpstr>
      <vt:lpstr>본고딕 Bold</vt:lpstr>
      <vt:lpstr>본고딕 Medium</vt:lpstr>
      <vt:lpstr>본고딕 Normal</vt:lpstr>
      <vt:lpstr>Arial</vt:lpstr>
      <vt:lpstr>Wingdings</vt:lpstr>
      <vt:lpstr>Wingdings 2</vt:lpstr>
      <vt:lpstr>1_Office 테마</vt:lpstr>
      <vt:lpstr>think-cell 슬라이드</vt:lpstr>
      <vt:lpstr>프로젝트명 (이슈 분석서)</vt:lpstr>
      <vt:lpstr>PowerPoint 프레젠테이션</vt:lpstr>
      <vt:lpstr>PowerPoint 프레젠테이션</vt:lpstr>
      <vt:lpstr>PowerPoint 프레젠테이션</vt:lpstr>
      <vt:lpstr>예시: 영업관리 프로세스는 기준정보·주문관리·재고/출하관리 등 Major 프로세스와 Sub 프로세스로 구성됨</vt:lpstr>
      <vt:lpstr>예시: 영업관리 프로세스는 기준정보·주문관리·재고/출하관리 등 Major 프로세스와 Sub 프로세스로 구성됨</vt:lpstr>
      <vt:lpstr>예시: 영업관리 프로세스는 기준정보·주문관리·재고/출하관리 등 Major 프로세스와 Sub 프로세스로 구성됨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이슈 분석서 양식</dc:title>
  <dc:creator>D-Flow</dc:creator>
  <cp:lastModifiedBy>D-Flow</cp:lastModifiedBy>
  <cp:revision>1</cp:revision>
  <dcterms:created xsi:type="dcterms:W3CDTF">2026-09-24T00:00:00Z</dcterms:created>
  <dcterms:modified xsi:type="dcterms:W3CDTF">2026-09-24T00:00:00Z</dcterms:modified>
</cp:coreProperties>
</file>