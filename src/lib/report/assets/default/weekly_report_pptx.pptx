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906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4320"/>
            <a:ext cx="8991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600">
                <a:solidFill>
                  <a:srgbClr val="243247"/>
                </a:solidFill>
                <a:latin typeface="Arial"/>
                <a:ea typeface="맑은 고딕"/>
              </a:rPr>
              <a:t>{{report.project_name}} · 주간보고</a:t>
            </a:r>
            <a:endParaRPr lang="ko-KR"/>
          </a:p>
        </p:txBody>
      </p:sp>
      <p:sp>
        <p:nvSpPr>
          <p:cNvPr id="3" name="Text 3"/>
          <p:cNvSpPr txBox="1"/>
          <p:nvPr/>
        </p:nvSpPr>
        <p:spPr>
          <a:xfrm>
            <a:off x="457200" y="914400"/>
            <a:ext cx="89916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>
                <a:solidFill>
                  <a:srgbClr val="243247"/>
                </a:solidFill>
                <a:latin typeface="Arial"/>
                <a:ea typeface="맑은 고딕"/>
              </a:rPr>
              <a:t>{{report.week_label}} | 계획 {{kpi.plan}} · 실적 {{kpi.actual}}</a:t>
            </a:r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4320"/>
            <a:ext cx="8991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600">
                <a:solidFill>
                  <a:srgbClr val="243247"/>
                </a:solidFill>
                <a:latin typeface="Arial"/>
                <a:ea typeface="맑은 고딕"/>
              </a:rPr>
              <a:t>{{report.project_name}} · 주간보고</a:t>
            </a:r>
            <a:endParaRPr lang="ko-KR"/>
          </a:p>
        </p:txBody>
      </p:sp>
      <p:sp>
        <p:nvSpPr>
          <p:cNvPr id="3" name="Text 3"/>
          <p:cNvSpPr txBox="1"/>
          <p:nvPr/>
        </p:nvSpPr>
        <p:spPr>
          <a:xfrm>
            <a:off x="457200" y="914400"/>
            <a:ext cx="89916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>
                <a:solidFill>
                  <a:srgbClr val="243247"/>
                </a:solidFill>
                <a:latin typeface="Arial"/>
                <a:ea typeface="맑은 고딕"/>
              </a:rPr>
              <a:t>{{report.week_label}} | 계획 {{kpi.plan}} · 실적 {{kpi.actual}}</a:t>
            </a:r>
            <a:endParaRPr lang="ko-KR"/>
          </a:p>
        </p:txBody>
      </p:sp>
      <p:graphicFrame>
        <p:nvGraphicFramePr>
          <p:cNvPr id="4" name="Report table"/>
          <p:cNvGraphicFramePr/>
          <p:nvPr/>
        </p:nvGraphicFramePr>
        <p:xfrm>
          <a:off x="457200" y="1463040"/>
          <a:ext cx="8991600" cy="3200400"/>
        </p:xfrm>
        <a:graphic>
          <a:graphicData uri="http://schemas.openxmlformats.org/drawingml/2006/table">
            <a:tbl>
              <a:tblPr firstRow="1" bandRow="1"/>
              <a:tblGrid>
                <a:gridCol w="2997200"/>
                <a:gridCol w="2997200"/>
                <a:gridCol w="2997200"/>
              </a:tblGrid>
              <a:tr h="411480"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업무영역 · 항목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금주 실적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차주 계획</a:t>
                      </a:r>
                      <a:endParaRPr lang="ko-KR"/>
                    </a:p>
                  </a:txBody>
                  <a:tcPr marL="91440" marR="91440" marT="91440" marB="91440"/>
                </a:tc>
              </a:tr>
              <a:tr h="2788920"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{{#slide sections}}{{.name}}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{{.this_content}}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{{.next_content}}</a:t>
                      </a:r>
                      <a:endParaRPr lang="ko-KR"/>
                    </a:p>
                  </a:txBody>
                  <a:tcPr marL="91440" marR="9144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-Flow">
  <a:themeElements>
    <a:clrScheme name="D-Flow">
      <a:dk1>
        <a:srgbClr val="1F2937"/>
      </a:dk1>
      <a:lt1>
        <a:srgbClr val="FFFFFF"/>
      </a:lt1>
      <a:dk2>
        <a:srgbClr val="243247"/>
      </a:dk2>
      <a:lt2>
        <a:srgbClr val="E8EEF5"/>
      </a:lt2>
      <a:accent1>
        <a:srgbClr val="2563EB"/>
      </a:accent1>
      <a:accent2>
        <a:srgbClr val="0F766E"/>
      </a:accent2>
      <a:accent3>
        <a:srgbClr val="D97706"/>
      </a:accent3>
      <a:accent4>
        <a:srgbClr val="7C3AED"/>
      </a:accent4>
      <a:accent5>
        <a:srgbClr val="DC2626"/>
      </a:accent5>
      <a:accent6>
        <a:srgbClr val="64748B"/>
      </a:accent6>
      <a:hlink>
        <a:srgbClr val="0563C1"/>
      </a:hlink>
      <a:folHlink>
        <a:srgbClr val="954F72"/>
      </a:folHlink>
    </a:clrScheme>
    <a:fontScheme name="D-Flow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D-Flo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