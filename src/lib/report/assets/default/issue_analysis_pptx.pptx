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906000" cy="6858000"/>
  <p:notesSz cx="6858000" cy="9144000"/>
</p:presentation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/Relationship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457200" y="274320"/>
            <a:ext cx="8991600" cy="54864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/>
            <a:r>
              <a:rPr lang="ko-KR" sz="2600">
                <a:solidFill>
                  <a:srgbClr val="243247"/>
                </a:solidFill>
                <a:latin typeface="Arial"/>
                <a:ea typeface="맑은 고딕"/>
              </a:rPr>
              <a:t>{{summary.project_name}} · 이슈 분석</a:t>
            </a:r>
            <a:endParaRPr lang="ko-KR"/>
          </a:p>
        </p:txBody>
      </p:sp>
      <p:sp>
        <p:nvSpPr>
          <p:cNvPr id="3" name="Text 3"/>
          <p:cNvSpPr txBox="1"/>
          <p:nvPr/>
        </p:nvSpPr>
        <p:spPr>
          <a:xfrm>
            <a:off x="457200" y="914400"/>
            <a:ext cx="8991600" cy="36576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/>
            <a:r>
              <a:rPr lang="ko-KR" sz="1600">
                <a:solidFill>
                  <a:srgbClr val="243247"/>
                </a:solidFill>
                <a:latin typeface="Arial"/>
                <a:ea typeface="맑은 고딕"/>
              </a:rPr>
              <a:t>{{summary.date_label}} | 영역 {{summary.area_count}}개 · 전체 {{summary.issue_count}}건</a:t>
            </a:r>
            <a:endParaRPr lang="ko-KR"/>
          </a:p>
        </p:txBody>
      </p:sp>
      <p:sp>
        <p:nvSpPr>
          <p:cNvPr id="4" name="Text 4"/>
          <p:cNvSpPr txBox="1"/>
          <p:nvPr/>
        </p:nvSpPr>
        <p:spPr>
          <a:xfrm>
            <a:off x="457200" y="1371600"/>
            <a:ext cx="8991600" cy="36576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/>
            <a:r>
              <a:rPr lang="ko-KR" sz="1200">
                <a:solidFill>
                  <a:srgbClr val="243247"/>
                </a:solidFill>
                <a:latin typeface="Arial"/>
                <a:ea typeface="맑은 고딕"/>
              </a:rPr>
              <a:t>작성 {{summary.author_name}}</a:t>
            </a:r>
            <a:endParaRPr lang="ko-K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457200" y="274320"/>
            <a:ext cx="8991600" cy="54864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/>
            <a:r>
              <a:rPr lang="ko-KR" sz="2400">
                <a:solidFill>
                  <a:srgbClr val="243247"/>
                </a:solidFill>
                <a:latin typeface="Arial"/>
                <a:ea typeface="맑은 고딕"/>
              </a:rPr>
              <a:t>영역별 종합 {{slide.continuation}}</a:t>
            </a:r>
            <a:endParaRPr lang="ko-KR"/>
          </a:p>
        </p:txBody>
      </p:sp>
      <p:sp>
        <p:nvSpPr>
          <p:cNvPr id="3" name="Text 3"/>
          <p:cNvSpPr txBox="1"/>
          <p:nvPr/>
        </p:nvSpPr>
        <p:spPr>
          <a:xfrm>
            <a:off x="457200" y="868680"/>
            <a:ext cx="8991600" cy="36576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/>
            <a:r>
              <a:rPr lang="ko-KR" sz="1400">
                <a:solidFill>
                  <a:srgbClr val="243247"/>
                </a:solidFill>
                <a:latin typeface="Arial"/>
                <a:ea typeface="맑은 고딕"/>
              </a:rPr>
              <a:t>{{summary.project_name}} | 영역 {{summary.area_count}}개 · 전체 {{summary.issue_count}}건</a:t>
            </a:r>
            <a:endParaRPr lang="ko-KR"/>
          </a:p>
        </p:txBody>
      </p:sp>
      <p:graphicFrame>
        <p:nvGraphicFramePr>
          <p:cNvPr id="4" name="Table 4"/>
          <p:cNvGraphicFramePr/>
          <p:nvPr/>
        </p:nvGraphicFramePr>
        <p:xfrm>
          <a:off x="457200" y="1463040"/>
          <a:ext cx="8988552" cy="822960"/>
        </p:xfrm>
        <a:graphic>
          <a:graphicData uri="http://schemas.openxmlformats.org/drawingml/2006/table">
            <a:tbl>
              <a:tblPr firstRow="1"/>
              <a:tblGrid>
                <a:gridCol w="2377440"/>
                <a:gridCol w="822960"/>
                <a:gridCol w="822960"/>
                <a:gridCol w="822960"/>
                <a:gridCol w="822960"/>
                <a:gridCol w="822960"/>
                <a:gridCol w="1280160"/>
                <a:gridCol w="1216152"/>
              </a:tblGrid>
              <a:tr h="365760">
                <a:tc>
                  <a:txBody>
                    <a:bodyPr wrap="square"/>
                    <a:lstStyle/>
                    <a:p>
                      <a:pPr/>
                      <a:r>
                        <a:rPr lang="ko-KR" sz="1100" b="1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영역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 b="1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전체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 b="1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열림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 b="1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진행중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 b="1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해결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 b="1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보류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 b="1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주관 부서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 b="1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관련 시스템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solidFill>
                      <a:srgbClr val="E8EEF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/>
                      <a:r>
                        <a:rPr lang="ko-KR" sz="11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{{#rows areas}}{{.code}} {{.name}}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{{.summary.total_count}}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{{.summary.status.open}}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{{.summary.status.in_progress}}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{{.summary.status.resolved}}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{{.summary.status.on_hold}}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{{.summary.owner_departments}}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{{.summary.related_systems}}{{/rows}}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" name="Text 9"/>
          <p:cNvSpPr txBox="1"/>
          <p:nvPr/>
        </p:nvSpPr>
        <p:spPr>
          <a:xfrm>
            <a:off x="457200" y="6446520"/>
            <a:ext cx="8991600" cy="27432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r"/>
            <a:r>
              <a:rPr lang="ko-KR" sz="1000">
                <a:solidFill>
                  <a:srgbClr val="243247"/>
                </a:solidFill>
                <a:latin typeface="Arial"/>
                <a:ea typeface="맑은 고딕"/>
              </a:rPr>
              <a:t>{{slide.page}} / {{slide.page_count}}</a:t>
            </a:r>
            <a:endParaRPr lang="ko-K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457200" y="274320"/>
            <a:ext cx="6979920" cy="54864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/>
            <a:r>
              <a:rPr lang="ko-KR" sz="2400">
                <a:solidFill>
                  <a:srgbClr val="243247"/>
                </a:solidFill>
                <a:latin typeface="Arial"/>
                <a:ea typeface="맑은 고딕"/>
              </a:rPr>
              <a:t>{{#slide areas}}{{.code}} {{.name}} · 이슈 목록 {{slide.continuation}}</a:t>
            </a:r>
            <a:endParaRPr lang="ko-KR"/>
          </a:p>
        </p:txBody>
      </p:sp>
      <p:sp>
        <p:nvSpPr>
          <p:cNvPr id="3" name="Text 3"/>
          <p:cNvSpPr txBox="1"/>
          <p:nvPr/>
        </p:nvSpPr>
        <p:spPr>
          <a:xfrm>
            <a:off x="457200" y="868680"/>
            <a:ext cx="6979920" cy="36576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/>
            <a:r>
              <a:rPr lang="ko-KR" sz="1400">
                <a:solidFill>
                  <a:srgbClr val="243247"/>
                </a:solidFill>
                <a:latin typeface="Arial"/>
                <a:ea typeface="맑은 고딕"/>
              </a:rPr>
              <a:t>전체 {{.summary.total_count}}건 | 열림 {{.summary.status.open}} · 진행중 {{.summary.status.in_progress}} · 해결 {{.summary.status.resolved}} · 보류 {{.summary.status.on_hold}}</a:t>
            </a:r>
            <a:endParaRPr lang="ko-KR"/>
          </a:p>
        </p:txBody>
      </p:sp>
      <p:sp>
        <p:nvSpPr>
          <p:cNvPr id="5" name="Text 5"/>
          <p:cNvSpPr txBox="1"/>
          <p:nvPr/>
        </p:nvSpPr>
        <p:spPr>
          <a:xfrm>
            <a:off x="7620000" y="274320"/>
            <a:ext cx="1828800" cy="10972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/>
            <a:r>
              <a:rPr lang="ko-KR" sz="1100">
                <a:solidFill>
                  <a:srgbClr val="243247"/>
                </a:solidFill>
                <a:latin typeface="Arial"/>
                <a:ea typeface="맑은 고딕"/>
              </a:rPr>
              <a:t>심각도별</a:t>
            </a:r>
            <a:endParaRPr lang="ko-KR"/>
          </a:p>
          <a:p>
            <a:pPr/>
            <a:r>
              <a:rPr lang="ko-KR" sz="1100">
                <a:solidFill>
                  <a:srgbClr val="243247"/>
                </a:solidFill>
                <a:latin typeface="Arial"/>
                <a:ea typeface="맑은 고딕"/>
              </a:rPr>
              <a:t>{{#items .summary.severity_counts}}{{.label}} {{.count}}건{{/items}}</a:t>
            </a:r>
            <a:endParaRPr lang="ko-KR"/>
          </a:p>
        </p:txBody>
      </p:sp>
      <p:graphicFrame>
        <p:nvGraphicFramePr>
          <p:cNvPr id="4" name="Table 4"/>
          <p:cNvGraphicFramePr/>
          <p:nvPr/>
        </p:nvGraphicFramePr>
        <p:xfrm>
          <a:off x="457200" y="1463040"/>
          <a:ext cx="8988552" cy="1097280"/>
        </p:xfrm>
        <a:graphic>
          <a:graphicData uri="http://schemas.openxmlformats.org/drawingml/2006/table">
            <a:tbl>
              <a:tblPr firstRow="1"/>
              <a:tblGrid>
                <a:gridCol w="1005840"/>
                <a:gridCol w="1828800"/>
                <a:gridCol w="4023360"/>
                <a:gridCol w="685800"/>
                <a:gridCol w="713232"/>
                <a:gridCol w="731520"/>
              </a:tblGrid>
              <a:tr h="365760">
                <a:tc>
                  <a:txBody>
                    <a:bodyPr wrap="square"/>
                    <a:lstStyle/>
                    <a:p>
                      <a:pPr/>
                      <a:r>
                        <a:rPr lang="ko-KR" sz="1100" b="1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코드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 b="1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이슈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 b="1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내용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 b="1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심각도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 b="1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상태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 b="1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주관 부서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solidFill>
                      <a:srgbClr val="E8EEF5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/>
                      <a:r>
                        <a:rPr lang="ko-KR" sz="11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{{#rows .issues}}{{.code}}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{{.title}}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{{.body}}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{{.severity_label}}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{{.status_label}}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{{.owner_department}}{{/rows}}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" name="Text 9"/>
          <p:cNvSpPr txBox="1"/>
          <p:nvPr/>
        </p:nvSpPr>
        <p:spPr>
          <a:xfrm>
            <a:off x="457200" y="6446520"/>
            <a:ext cx="8991600" cy="27432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r"/>
            <a:r>
              <a:rPr lang="ko-KR" sz="1000">
                <a:solidFill>
                  <a:srgbClr val="243247"/>
                </a:solidFill>
                <a:latin typeface="Arial"/>
                <a:ea typeface="맑은 고딕"/>
              </a:rPr>
              <a:t>{{slide.page}} / {{slide.page_count}}</a:t>
            </a:r>
            <a:endParaRPr lang="ko-K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457200" y="274320"/>
            <a:ext cx="8991600" cy="54864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/>
            <a:r>
              <a:rPr lang="ko-KR" sz="2400">
                <a:solidFill>
                  <a:srgbClr val="243247"/>
                </a:solidFill>
                <a:latin typeface="Arial"/>
                <a:ea typeface="맑은 고딕"/>
              </a:rPr>
              <a:t>{{#slide areas}}{{.code}} {{.name}} · 원인 분석 {{slide.continuation}}</a:t>
            </a:r>
            <a:endParaRPr lang="ko-KR"/>
          </a:p>
        </p:txBody>
      </p:sp>
      <p:sp>
        <p:nvSpPr>
          <p:cNvPr id="3" name="Text 3"/>
          <p:cNvSpPr txBox="1"/>
          <p:nvPr/>
        </p:nvSpPr>
        <p:spPr>
          <a:xfrm>
            <a:off x="457200" y="868680"/>
            <a:ext cx="8991600" cy="36576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/>
            <a:r>
              <a:rPr lang="ko-KR" sz="1400">
                <a:solidFill>
                  <a:srgbClr val="243247"/>
                </a:solidFill>
                <a:latin typeface="Arial"/>
                <a:ea typeface="맑은 고딕"/>
              </a:rPr>
              <a:t>전체 {{.summary.total_count}}건 | 열림 {{.summary.status.open}} · 진행중 {{.summary.status.in_progress}} · 해결 {{.summary.status.resolved}} · 보류 {{.summary.status.on_hold}}</a:t>
            </a:r>
            <a:endParaRPr lang="ko-KR"/>
          </a:p>
        </p:txBody>
      </p:sp>
      <p:graphicFrame>
        <p:nvGraphicFramePr>
          <p:cNvPr id="4" name="Table 4"/>
          <p:cNvGraphicFramePr/>
          <p:nvPr/>
        </p:nvGraphicFramePr>
        <p:xfrm>
          <a:off x="457200" y="1463040"/>
          <a:ext cx="8988552" cy="1097280"/>
        </p:xfrm>
        <a:graphic>
          <a:graphicData uri="http://schemas.openxmlformats.org/drawingml/2006/table">
            <a:tbl>
              <a:tblPr firstRow="1"/>
              <a:tblGrid>
                <a:gridCol w="1005840"/>
                <a:gridCol w="2377440"/>
                <a:gridCol w="5605272"/>
              </a:tblGrid>
              <a:tr h="365760">
                <a:tc>
                  <a:txBody>
                    <a:bodyPr wrap="square"/>
                    <a:lstStyle/>
                    <a:p>
                      <a:pPr/>
                      <a:r>
                        <a:rPr lang="ko-KR" sz="1100" b="1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코드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 b="1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이슈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 b="1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원인 — [분류] 직접 원인 / 근본 원인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solidFill>
                      <a:srgbClr val="E8EEF5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/>
                      <a:r>
                        <a:rPr lang="ko-KR" sz="11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{{#rows .issues}}{{.code}}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{{.title}}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{{#items .causes}}[{{.category_label}}] {{.direct_cause}}</a:t>
                      </a:r>
                      <a:endParaRPr lang="ko-KR"/>
                    </a:p>
                    <a:p>
                      <a:pPr/>
                      <a:r>
                        <a:rPr lang="ko-KR" sz="11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근본 원인: {{.root_cause}}{{/items}}{{/rows}}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" name="Text 9"/>
          <p:cNvSpPr txBox="1"/>
          <p:nvPr/>
        </p:nvSpPr>
        <p:spPr>
          <a:xfrm>
            <a:off x="457200" y="6446520"/>
            <a:ext cx="8991600" cy="27432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r"/>
            <a:r>
              <a:rPr lang="ko-KR" sz="1000">
                <a:solidFill>
                  <a:srgbClr val="243247"/>
                </a:solidFill>
                <a:latin typeface="Arial"/>
                <a:ea typeface="맑은 고딕"/>
              </a:rPr>
              <a:t>{{slide.page}} / {{slide.page_count}}</a:t>
            </a:r>
            <a:endParaRPr lang="ko-K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457200" y="274320"/>
            <a:ext cx="8991600" cy="54864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/>
            <a:r>
              <a:rPr lang="ko-KR" sz="2400">
                <a:solidFill>
                  <a:srgbClr val="243247"/>
                </a:solidFill>
                <a:latin typeface="Arial"/>
                <a:ea typeface="맑은 고딕"/>
              </a:rPr>
              <a:t>{{#slide areas}}{{.code}} {{.name}} · 개선기회 {{slide.continuation}}</a:t>
            </a:r>
            <a:endParaRPr lang="ko-KR"/>
          </a:p>
        </p:txBody>
      </p:sp>
      <p:sp>
        <p:nvSpPr>
          <p:cNvPr id="3" name="Text 3"/>
          <p:cNvSpPr txBox="1"/>
          <p:nvPr/>
        </p:nvSpPr>
        <p:spPr>
          <a:xfrm>
            <a:off x="457200" y="868680"/>
            <a:ext cx="8991600" cy="36576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/>
            <a:r>
              <a:rPr lang="ko-KR" sz="1400">
                <a:solidFill>
                  <a:srgbClr val="243247"/>
                </a:solidFill>
                <a:latin typeface="Arial"/>
                <a:ea typeface="맑은 고딕"/>
              </a:rPr>
              <a:t>전체 {{.summary.total_count}}건의 이슈를 묶은 개선 방향</a:t>
            </a:r>
            <a:endParaRPr lang="ko-KR"/>
          </a:p>
        </p:txBody>
      </p:sp>
      <p:graphicFrame>
        <p:nvGraphicFramePr>
          <p:cNvPr id="4" name="Table 4"/>
          <p:cNvGraphicFramePr/>
          <p:nvPr/>
        </p:nvGraphicFramePr>
        <p:xfrm>
          <a:off x="457200" y="1463040"/>
          <a:ext cx="8988552" cy="1097280"/>
        </p:xfrm>
        <a:graphic>
          <a:graphicData uri="http://schemas.openxmlformats.org/drawingml/2006/table">
            <a:tbl>
              <a:tblPr firstRow="1"/>
              <a:tblGrid>
                <a:gridCol w="640080"/>
                <a:gridCol w="2377440"/>
                <a:gridCol w="3383280"/>
                <a:gridCol w="2587752"/>
              </a:tblGrid>
              <a:tr h="365760">
                <a:tc>
                  <a:txBody>
                    <a:bodyPr wrap="square"/>
                    <a:lstStyle/>
                    <a:p>
                      <a:pPr/>
                      <a:r>
                        <a:rPr lang="ko-KR" sz="1100" b="1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번호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 b="1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개선기회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 b="1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개선 방향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 b="1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연결 이슈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solidFill>
                      <a:srgbClr val="E8EEF5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/>
                      <a:r>
                        <a:rPr lang="ko-KR" sz="11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{{#rows .opportunities}}{{.no}}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{{.title}}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{{.description}}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1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{{#items .issues}}{{.code}} {{.title}}{{/items}}{{/rows}}</a:t>
                      </a:r>
                      <a:endParaRPr lang="ko-KR"/>
                    </a:p>
                  </a:txBody>
                  <a:tcPr marL="72000" marR="72000" marT="54000" marB="54000">
                    <a:lnL w="6350" cap="flat" cmpd="sng" algn="ctr">
                      <a:solidFill>
                        <a:srgbClr val="C5CEDA"/>
                      </a:solidFill>
                      <a:prstDash val="solid"/>
                    </a:lnL>
                    <a:lnR w="6350" cap="flat" cmpd="sng" algn="ctr">
                      <a:solidFill>
                        <a:srgbClr val="C5CEDA"/>
                      </a:solidFill>
                      <a:prstDash val="solid"/>
                    </a:lnR>
                    <a:lnT w="6350" cap="flat" cmpd="sng" algn="ctr">
                      <a:solidFill>
                        <a:srgbClr val="C5CEDA"/>
                      </a:solidFill>
                      <a:prstDash val="solid"/>
                    </a:lnT>
                    <a:lnB w="6350" cap="flat" cmpd="sng" algn="ctr">
                      <a:solidFill>
                        <a:srgbClr val="C5CEDA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" name="Text 9"/>
          <p:cNvSpPr txBox="1"/>
          <p:nvPr/>
        </p:nvSpPr>
        <p:spPr>
          <a:xfrm>
            <a:off x="457200" y="6446520"/>
            <a:ext cx="8991600" cy="27432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r"/>
            <a:r>
              <a:rPr lang="ko-KR" sz="1000">
                <a:solidFill>
                  <a:srgbClr val="243247"/>
                </a:solidFill>
                <a:latin typeface="Arial"/>
                <a:ea typeface="맑은 고딕"/>
              </a:rPr>
              <a:t>{{slide.page}} / {{slide.page_count}}</a:t>
            </a:r>
            <a:endParaRPr lang="ko-K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-Flow">
  <a:themeElements>
    <a:clrScheme name="D-Flow">
      <a:dk1>
        <a:srgbClr val="1F2937"/>
      </a:dk1>
      <a:lt1>
        <a:srgbClr val="FFFFFF"/>
      </a:lt1>
      <a:dk2>
        <a:srgbClr val="243247"/>
      </a:dk2>
      <a:lt2>
        <a:srgbClr val="E8EEF5"/>
      </a:lt2>
      <a:accent1>
        <a:srgbClr val="2563EB"/>
      </a:accent1>
      <a:accent2>
        <a:srgbClr val="0F766E"/>
      </a:accent2>
      <a:accent3>
        <a:srgbClr val="D97706"/>
      </a:accent3>
      <a:accent4>
        <a:srgbClr val="7C3AED"/>
      </a:accent4>
      <a:accent5>
        <a:srgbClr val="DC2626"/>
      </a:accent5>
      <a:accent6>
        <a:srgbClr val="64748B"/>
      </a:accent6>
      <a:hlink>
        <a:srgbClr val="0563C1"/>
      </a:hlink>
      <a:folHlink>
        <a:srgbClr val="954F72"/>
      </a:folHlink>
    </a:clrScheme>
    <a:fontScheme name="D-Flow">
      <a:majorFont>
        <a:latin typeface="Arial"/>
        <a:ea typeface="맑은 고딕"/>
        <a:cs typeface=""/>
      </a:majorFont>
      <a:minorFont>
        <a:latin typeface="Arial"/>
        <a:ea typeface="맑은 고딕"/>
        <a:cs typeface=""/>
      </a:minorFont>
    </a:fontScheme>
    <a:fmtScheme name="D-Flow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