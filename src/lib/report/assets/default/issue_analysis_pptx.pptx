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906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4320"/>
            <a:ext cx="89916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600">
                <a:solidFill>
                  <a:srgbClr val="243247"/>
                </a:solidFill>
                <a:latin typeface="Arial"/>
                <a:ea typeface="맑은 고딕"/>
              </a:rPr>
              <a:t>{{summary.project_name}} · 이슈 분석</a:t>
            </a:r>
            <a:endParaRPr lang="ko-KR"/>
          </a:p>
        </p:txBody>
      </p:sp>
      <p:sp>
        <p:nvSpPr>
          <p:cNvPr id="3" name="Text 3"/>
          <p:cNvSpPr txBox="1"/>
          <p:nvPr/>
        </p:nvSpPr>
        <p:spPr>
          <a:xfrm>
            <a:off x="457200" y="914400"/>
            <a:ext cx="89916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>
                <a:solidFill>
                  <a:srgbClr val="243247"/>
                </a:solidFill>
                <a:latin typeface="Arial"/>
                <a:ea typeface="맑은 고딕"/>
              </a:rPr>
              <a:t>{{summary.date_label}} | 전체 {{summary.issue_count}}건</a:t>
            </a:r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4320"/>
            <a:ext cx="89916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2600">
                <a:solidFill>
                  <a:srgbClr val="243247"/>
                </a:solidFill>
                <a:latin typeface="Arial"/>
                <a:ea typeface="맑은 고딕"/>
              </a:rPr>
              <a:t>{{summary.project_name}} · 이슈 분석</a:t>
            </a:r>
            <a:endParaRPr lang="ko-KR"/>
          </a:p>
        </p:txBody>
      </p:sp>
      <p:sp>
        <p:nvSpPr>
          <p:cNvPr id="3" name="Text 3"/>
          <p:cNvSpPr txBox="1"/>
          <p:nvPr/>
        </p:nvSpPr>
        <p:spPr>
          <a:xfrm>
            <a:off x="457200" y="914400"/>
            <a:ext cx="89916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ko-KR" sz="1600">
                <a:solidFill>
                  <a:srgbClr val="243247"/>
                </a:solidFill>
                <a:latin typeface="Arial"/>
                <a:ea typeface="맑은 고딕"/>
              </a:rPr>
              <a:t>{{summary.date_label}} | 전체 {{summary.issue_count}}건</a:t>
            </a:r>
            <a:endParaRPr lang="ko-KR"/>
          </a:p>
        </p:txBody>
      </p:sp>
      <p:graphicFrame>
        <p:nvGraphicFramePr>
          <p:cNvPr id="4" name="Report table"/>
          <p:cNvGraphicFramePr/>
          <p:nvPr/>
        </p:nvGraphicFramePr>
        <p:xfrm>
          <a:off x="457200" y="1463040"/>
          <a:ext cx="8991600" cy="3200400"/>
        </p:xfrm>
        <a:graphic>
          <a:graphicData uri="http://schemas.openxmlformats.org/drawingml/2006/table">
            <a:tbl>
              <a:tblPr firstRow="1" bandRow="1"/>
              <a:tblGrid>
                <a:gridCol w="2247900"/>
                <a:gridCol w="2247900"/>
                <a:gridCol w="2247900"/>
                <a:gridCol w="2247900"/>
              </a:tblGrid>
              <a:tr h="411480"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코드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이슈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내용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상태</a:t>
                      </a:r>
                      <a:endParaRPr lang="ko-KR"/>
                    </a:p>
                  </a:txBody>
                  <a:tcPr marL="91440" marR="91440" marT="91440" marB="91440"/>
                </a:tc>
              </a:tr>
              <a:tr h="2788920"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{{#slide issues}}{{.code}}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{{.title}}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{{.body}}</a:t>
                      </a:r>
                      <a:endParaRPr lang="ko-KR"/>
                    </a:p>
                  </a:txBody>
                  <a:tcPr marL="91440" marR="91440" marT="91440" marB="91440"/>
                </a:tc>
                <a:tc>
                  <a:txBody>
                    <a:bodyPr wrap="square"/>
                    <a:lstStyle/>
                    <a:p>
                      <a:pPr/>
                      <a:r>
                        <a:rPr lang="ko-KR" sz="1400">
                          <a:solidFill>
                            <a:srgbClr val="243247"/>
                          </a:solidFill>
                          <a:latin typeface="Arial"/>
                          <a:ea typeface="맑은 고딕"/>
                        </a:rPr>
                        <a:t>{{.status_label}}</a:t>
                      </a:r>
                      <a:endParaRPr lang="ko-KR"/>
                    </a:p>
                  </a:txBody>
                  <a:tcPr marL="91440" marR="9144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D-Flow">
      <a:dk1>
        <a:srgbClr val="262626"/>
      </a:dk1>
      <a:lt1>
        <a:srgbClr val="FFFFFF"/>
      </a:lt1>
      <a:dk2>
        <a:srgbClr val="334155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0F766E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D-Flow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