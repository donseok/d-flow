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284" r:id="rId2"/>
    <p:sldId id="283" r:id="rId3"/>
  </p:sldIdLst>
  <p:sldSz cx="9906000" cy="6858000" type="A4"/>
  <p:notesSz cx="6735763" cy="9866313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6695" autoAdjust="0"/>
  </p:normalViewPr>
  <p:slideViewPr>
    <p:cSldViewPr snapToGrid="0">
      <p:cViewPr varScale="1">
        <p:scale>
          <a:sx n="126" d="100"/>
          <a:sy n="126" d="100"/>
        </p:scale>
        <p:origin x="882" y="120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81" d="100"/>
          <a:sy n="81" d="100"/>
        </p:scale>
        <p:origin x="39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NUL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3.xml"/><Relationship Id="rId7" Type="http://schemas.openxmlformats.org/officeDocument/2006/relationships/image" Target="../media/image6.png"/><Relationship Id="rId2" Type="http://schemas.openxmlformats.org/officeDocument/2006/relationships/tags" Target="../tags/tag12.xml"/><Relationship Id="rId1" Type="http://schemas.openxmlformats.org/officeDocument/2006/relationships/vmlDrawing" Target="../drawings/vmlDrawing8.vml"/><Relationship Id="rId6" Type="http://schemas.openxmlformats.org/officeDocument/2006/relationships/image" Target="NULL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5.xml"/><Relationship Id="rId7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NULL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0.vml"/><Relationship Id="rId6" Type="http://schemas.openxmlformats.org/officeDocument/2006/relationships/image" Target="NULL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7.png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NULL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1.xml"/><Relationship Id="rId7" Type="http://schemas.openxmlformats.org/officeDocument/2006/relationships/image" Target="../media/image3.png"/><Relationship Id="rId2" Type="http://schemas.openxmlformats.org/officeDocument/2006/relationships/tags" Target="../tags/tag20.xml"/><Relationship Id="rId1" Type="http://schemas.openxmlformats.org/officeDocument/2006/relationships/vmlDrawing" Target="../drawings/vmlDrawing12.vml"/><Relationship Id="rId6" Type="http://schemas.openxmlformats.org/officeDocument/2006/relationships/image" Target="NULL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Type A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4083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4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소속을 입력하세요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334155"/>
              </a:gs>
              <a:gs pos="0">
                <a:srgbClr val="0F766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보고서 제목을 입력하세요</a:t>
            </a:r>
            <a:br>
              <a:rPr lang="ko-KR" altLang="en-US" dirty="0"/>
            </a:br>
            <a:r>
              <a:rPr lang="en-US" altLang="ko-KR" dirty="0" err="1"/>
              <a:t>White_Type A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Type B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1520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8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보고서 제목을 입력하세요</a:t>
            </a:r>
            <a:br>
              <a:rPr lang="en-US" altLang="ko-KR" dirty="0"/>
            </a:br>
            <a:r>
              <a:rPr lang="en-US" altLang="ko-KR" dirty="0" err="1"/>
              <a:t>White_Type B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소속을 입력하세요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334155"/>
              </a:gs>
              <a:gs pos="0">
                <a:srgbClr val="0F766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96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5640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99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소속을 입력하세요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334155"/>
              </a:gs>
              <a:gs pos="0">
                <a:srgbClr val="0F766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보고서 제목을 입력하세요</a:t>
            </a:r>
            <a:br>
              <a:rPr lang="ko-KR" altLang="en-US" dirty="0"/>
            </a:br>
            <a:r>
              <a:rPr lang="en-US" altLang="ko-KR" dirty="0" err="1"/>
              <a:t>White_Clean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439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Type B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95041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316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소속을 입력하세요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보고서 제목을 입력하세요</a:t>
            </a:r>
            <a:br>
              <a:rPr lang="ko-KR" altLang="en-US" dirty="0"/>
            </a:br>
            <a:r>
              <a:rPr lang="en-US" altLang="ko-KR" dirty="0" err="1"/>
              <a:t>Color_Type B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660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  <p15:guide id="3" orient="horz" pos="2047" userDrawn="1">
          <p15:clr>
            <a:srgbClr val="FBAE40"/>
          </p15:clr>
        </p15:guide>
        <p15:guide id="4" orient="horz" pos="1434" userDrawn="1">
          <p15:clr>
            <a:srgbClr val="FBAE40"/>
          </p15:clr>
        </p15:guide>
        <p15:guide id="5" pos="2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13837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46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2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소속을 입력하세요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보고서 제목을 입력하세요</a:t>
            </a:r>
            <a:br>
              <a:rPr lang="ko-KR" altLang="en-US" dirty="0"/>
            </a:br>
            <a:r>
              <a:rPr lang="en-US" altLang="ko-KR" dirty="0" err="1"/>
              <a:t>Color_Clean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8830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047">
          <p15:clr>
            <a:srgbClr val="FBAE40"/>
          </p15:clr>
        </p15:guide>
        <p15:guide id="4" orient="horz" pos="1434">
          <p15:clr>
            <a:srgbClr val="FBAE40"/>
          </p15:clr>
        </p15:guide>
        <p15:guide id="5" pos="2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Type A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7177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64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5"/>
          <a:stretch/>
        </p:blipFill>
        <p:spPr>
          <a:xfrm>
            <a:off x="0" y="3197"/>
            <a:ext cx="9906000" cy="5525487"/>
          </a:xfrm>
          <a:prstGeom prst="rect">
            <a:avLst/>
          </a:prstGeom>
        </p:spPr>
      </p:pic>
      <p:grpSp>
        <p:nvGrpSpPr>
          <p:cNvPr id="9" name="그룹 8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0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 11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소속을 입력하세요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보고서 제목을 입력하세요</a:t>
            </a:r>
            <a:br>
              <a:rPr lang="ko-KR" altLang="en-US" dirty="0"/>
            </a:br>
            <a:r>
              <a:rPr lang="en-US" altLang="ko-KR" dirty="0" err="1"/>
              <a:t>Color_Type A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1024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047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1434" userDrawn="1">
          <p15:clr>
            <a:srgbClr val="FBAE40"/>
          </p15:clr>
        </p15:guide>
        <p15:guide id="4" pos="26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85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01</a:t>
            </a:r>
          </a:p>
          <a:p>
            <a:pPr lvl="0"/>
            <a:r>
              <a:rPr lang="en-US" altLang="ko-KR" dirty="0"/>
              <a:t>02</a:t>
            </a:r>
          </a:p>
          <a:p>
            <a:pPr lvl="0"/>
            <a:r>
              <a:rPr lang="en-US" altLang="ko-KR" dirty="0"/>
              <a:t>03</a:t>
            </a:r>
          </a:p>
          <a:p>
            <a:pPr lvl="0"/>
            <a:r>
              <a:rPr lang="en-US" altLang="ko-KR" dirty="0"/>
              <a:t>04</a:t>
            </a:r>
          </a:p>
          <a:p>
            <a:pPr lvl="0"/>
            <a:r>
              <a:rPr lang="en-US" altLang="ko-KR" dirty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srgbClr val="334155"/>
                </a:solidFill>
              </a:rPr>
              <a:t>Contents</a:t>
            </a:r>
            <a:endParaRPr lang="ko-KR" altLang="en-US" dirty="0">
              <a:solidFill>
                <a:srgbClr val="334155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01 – 05</a:t>
            </a:r>
          </a:p>
          <a:p>
            <a:pPr lvl="0"/>
            <a:r>
              <a:rPr lang="en-US" altLang="ko-KR" dirty="0"/>
              <a:t>01 – 05</a:t>
            </a:r>
          </a:p>
          <a:p>
            <a:pPr lvl="0"/>
            <a:r>
              <a:rPr lang="en-US" altLang="ko-KR" dirty="0"/>
              <a:t>01 – 05</a:t>
            </a:r>
          </a:p>
          <a:p>
            <a:pPr lvl="0"/>
            <a:r>
              <a:rPr lang="en-US" altLang="ko-KR" dirty="0"/>
              <a:t>01 – 05</a:t>
            </a:r>
          </a:p>
          <a:p>
            <a:pPr lvl="0"/>
            <a:r>
              <a:rPr lang="en-US" altLang="ko-KR" dirty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/>
              <a:t>텍스트를 입력하세요</a:t>
            </a:r>
            <a:endParaRPr lang="en-US" altLang="ko-KR" dirty="0"/>
          </a:p>
          <a:p>
            <a:pPr lvl="0"/>
            <a:r>
              <a:rPr lang="ko-KR" altLang="en-US" dirty="0"/>
              <a:t>텍스트를 입력하세요</a:t>
            </a:r>
            <a:endParaRPr lang="en-US" altLang="ko-KR" dirty="0"/>
          </a:p>
          <a:p>
            <a:pPr lvl="0"/>
            <a:r>
              <a:rPr lang="ko-KR" altLang="en-US" dirty="0"/>
              <a:t>텍스트를 입력하세요</a:t>
            </a:r>
            <a:endParaRPr lang="en-US" altLang="ko-KR" dirty="0"/>
          </a:p>
          <a:p>
            <a:pPr lvl="0"/>
            <a:r>
              <a:rPr lang="ko-KR" altLang="en-US" dirty="0"/>
              <a:t>텍스트를 입력하세요</a:t>
            </a:r>
            <a:endParaRPr lang="en-US" altLang="ko-KR" dirty="0"/>
          </a:p>
          <a:p>
            <a:pPr lvl="0"/>
            <a:r>
              <a:rPr lang="ko-KR" altLang="en-US" dirty="0"/>
              <a:t>텍스트를 입력하세요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9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3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srgbClr val="334155"/>
                </a:solidFill>
              </a:rPr>
              <a:t>Contents</a:t>
            </a:r>
            <a:endParaRPr lang="ko-KR" altLang="en-US" dirty="0">
              <a:solidFill>
                <a:srgbClr val="334155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61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80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6" orient="horz" pos="1434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Action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17pt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최대 </a:t>
            </a:r>
            <a:r>
              <a:rPr lang="ko-KR" altLang="en-US" dirty="0" err="1"/>
              <a:t>두줄까지</a:t>
            </a:r>
            <a:r>
              <a:rPr lang="ko-KR" altLang="en-US" dirty="0"/>
              <a:t> 사용 가능하며</a:t>
            </a:r>
            <a:r>
              <a:rPr lang="en-US" altLang="ko-KR" dirty="0"/>
              <a:t> </a:t>
            </a:r>
            <a:r>
              <a:rPr lang="ko-KR" altLang="en-US" dirty="0"/>
              <a:t>본문 요약 및 주요 메시지를 </a:t>
            </a:r>
            <a:r>
              <a:rPr lang="ko-KR" altLang="en-US" dirty="0" err="1"/>
              <a:t>기재해주십시요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/>
              <a:t>Main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19pt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/>
              <a:t>작성자</a:t>
            </a:r>
            <a:r>
              <a:rPr lang="en-US" altLang="ko-KR" dirty="0"/>
              <a:t>_00000</a:t>
            </a:r>
            <a:r>
              <a:rPr lang="ko-KR" altLang="en-US" dirty="0"/>
              <a:t>팀</a:t>
            </a: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1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/>
              <a:t>Main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19pt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작성자</a:t>
            </a:r>
            <a:r>
              <a:rPr lang="en-US" altLang="ko-KR"/>
              <a:t>_</a:t>
            </a:r>
            <a:r>
              <a:rPr lang="ko-KR" altLang="en-US"/>
              <a:t>00000팀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sp>
        <p:nvSpPr>
          <p:cNvPr id="9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Action Title </a:t>
            </a:r>
            <a:r>
              <a:rPr lang="ko-KR" altLang="en-US" dirty="0"/>
              <a:t>미사용 내지양식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70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  <p15:guide id="8" pos="3347">
          <p15:clr>
            <a:srgbClr val="FBAE40"/>
          </p15:clr>
        </p15:guide>
        <p15:guide id="9" pos="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② 보고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95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b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en-US" altLang="ko-KR" sz="3200" kern="1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Basic template</a:t>
            </a:r>
            <a:endParaRPr lang="ko-KR" altLang="en-US" dirty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/>
              <a:t>소속을 입력하세요</a:t>
            </a:r>
            <a:r>
              <a:rPr lang="en-US" altLang="ko-KR" dirty="0"/>
              <a:t>Ⅰ2024.00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334155"/>
              </a:gs>
              <a:gs pos="0">
                <a:srgbClr val="0F766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41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20" name="think-cell 슬라이드" r:id="rId15" imgW="381" imgH="381" progId="TCLayout.ActiveDocument.1">
                  <p:embed/>
                </p:oleObj>
              </mc:Choice>
              <mc:Fallback>
                <p:oleObj name="think-cell 슬라이드" r:id="rId1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/>
              <a:t>작성자</a:t>
            </a:r>
            <a:r>
              <a:rPr lang="en-US" altLang="ko-KR"/>
              <a:t>_OOOO</a:t>
            </a:r>
            <a:r>
              <a:rPr lang="ko-KR" altLang="en-US"/>
              <a:t>팀 </a:t>
            </a:r>
            <a:r>
              <a:rPr lang="en-US" altLang="ko-KR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2" r:id="rId2"/>
    <p:sldLayoutId id="2147483726" r:id="rId3"/>
    <p:sldLayoutId id="2147483715" r:id="rId4"/>
    <p:sldLayoutId id="2147483727" r:id="rId5"/>
    <p:sldLayoutId id="2147483717" r:id="rId6"/>
    <p:sldLayoutId id="2147483718" r:id="rId7"/>
    <p:sldLayoutId id="2147483720" r:id="rId8"/>
    <p:sldLayoutId id="2147483719" r:id="rId9"/>
    <p:sldLayoutId id="2147483728" r:id="rId10"/>
    <p:sldLayoutId id="2147483729" r:id="rId11"/>
  </p:sldLayoutIdLst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19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/>
            </a:r>
            <a:r>
              <a:rPr lang="ko-KR" altLang="en-US" dirty="0"/>
              <a:t>프로젝트 </a:t>
            </a:r>
            <a:r>
              <a:rPr lang="ko-KR" altLang="en-US" dirty="0" err="1"/>
              <a:t>주간보고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/>
            </a:r>
            <a:r>
              <a:rPr lang="en-US" altLang="ko-KR"/>
              <a:t>프로젝트 TF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216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466E-A541-806E-BCC3-063EEAB1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9478ECE-128C-2BF8-E047-1167BF569C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2833" y="146592"/>
            <a:ext cx="6172693" cy="418704"/>
          </a:xfrm>
        </p:spPr>
        <p:txBody>
          <a:bodyPr/>
          <a:lstStyle/>
          <a:p>
            <a:r>
              <a:rPr lang="en-US" altLang="ko-KR" dirty="0"/>
              <a:t/>
            </a:r>
            <a:r>
              <a:rPr lang="ko-KR" altLang="en-US" dirty="0"/>
              <a:t>프로젝트 </a:t>
            </a:r>
            <a:r>
              <a:rPr lang="ko-KR" altLang="en-US" dirty="0" err="1"/>
              <a:t>주간보고</a:t>
            </a:r>
            <a:endParaRPr lang="ko-KR" altLang="en-US" dirty="0"/>
          </a:p>
        </p:txBody>
      </p: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9EF8087E-E6EC-514E-03EC-C8DBED9F7F00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132368"/>
              </p:ext>
            </p:extLst>
          </p:nvPr>
        </p:nvGraphicFramePr>
        <p:xfrm>
          <a:off x="272833" y="712134"/>
          <a:ext cx="9359901" cy="5768311"/>
        </p:xfrm>
        <a:graphic>
          <a:graphicData uri="http://schemas.openxmlformats.org/drawingml/2006/table">
            <a:tbl>
              <a:tblPr/>
              <a:tblGrid>
                <a:gridCol w="768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91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구분</a:t>
                      </a:r>
                      <a:endParaRPr kumimoji="0" lang="en-US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90000" marR="90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 marL="169863" marR="0" lvl="0" indent="-169863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전주</a:t>
                      </a:r>
                      <a:r>
                        <a:rPr kumimoji="0" lang="en-US" altLang="ko-KR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 </a:t>
                      </a: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주요활동 </a:t>
                      </a:r>
                      <a:r>
                        <a:rPr kumimoji="0" lang="en-US" altLang="ko-KR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(6/29~7/3</a:t>
                      </a:r>
                      <a:r>
                        <a:rPr kumimoji="0" lang="en-US" altLang="ko-KR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)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 marL="169863" marR="0" lvl="0" indent="-169863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금주</a:t>
                      </a:r>
                      <a:r>
                        <a:rPr kumimoji="0" lang="en-US" altLang="ko-KR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 </a:t>
                      </a: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주요활동</a:t>
                      </a:r>
                      <a:r>
                        <a:rPr kumimoji="0" lang="ko-KR" altLang="en-US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 </a:t>
                      </a:r>
                      <a:r>
                        <a:rPr kumimoji="0" lang="en-US" altLang="ko-KR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(7/6~7/10</a:t>
                      </a:r>
                      <a:r>
                        <a:rPr kumimoji="0" lang="en-US" altLang="ko-KR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)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3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내용</a:t>
                      </a:r>
                      <a:endParaRPr kumimoji="0" lang="en-US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3600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예시 작업 1 — 착수 워크숍</a:t>
                      </a:r>
                      <a:r>
                        <a:rPr kumimoji="0" lang="ko-KR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(7/2)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참석자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: 프로젝트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팀원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주요 내용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 .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목표와 범위 공유</a:t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 . WBS·일정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확정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 . 역할 분담(R&amp;R)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확정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 . 킥오프 준비</a:t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협의</a:t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예시 작업 2 — 시스템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구성 방안 협의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(6/30)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참석자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: 아키텍트, 운영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담당자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협의 내용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 .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클라우드 전환 방향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검토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 .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데이터베이스 전환 검토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후속 : 세부 일정 수립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예시 작업 3 — 현황 분석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 ~7/31)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현행 업무 프로세스 분석</a:t>
                      </a:r>
                      <a:r>
                        <a:rPr kumimoji="0" lang="ko-KR" alt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endParaRPr kumimoji="0" lang="en-US" altLang="ko-KR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예시 작업 4 — 데이터 표준화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9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9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9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 준비</a:t>
                      </a:r>
                      <a:endParaRPr kumimoji="0" lang="en-US" altLang="ko-KR" sz="1200" b="1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데이터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표준 체계 수립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예시 작업 5 — 인터뷰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 일정 수립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 ~7/10)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부서별 담당자 인터뷰 일정 수립</a:t>
                      </a:r>
                      <a:b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</a:b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인터뷰 시나리오 검토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예시 작업 6 — 교육 계획 수립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 ~7/10)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세부 </a:t>
                      </a:r>
                      <a:r>
                        <a:rPr kumimoji="0" lang="ko-KR" altLang="en-US" sz="12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아젠다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수립</a:t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실습 환경 준비</a:t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.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강사 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: 외부 전문가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.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일정 : 7/23 ~ 7/24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/>
                      </a:r>
                      <a:endParaRPr kumimoji="0" lang="ko-KR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6000" marB="36000"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569118"/>
                  </a:ext>
                </a:extLst>
              </a:tr>
              <a:tr h="24410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이슈사항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 </a:t>
                      </a: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및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주요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이벤트</a:t>
                      </a:r>
                      <a:endParaRPr kumimoji="0" lang="en-US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3600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altLang="ko-KR" sz="1200" b="0" i="0" u="none" strike="noStrike" kern="120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예시 이벤트 — 프로젝트 킥오프</a:t>
                      </a:r>
                      <a:r>
                        <a:rPr kumimoji="0" lang="ko-KR" altLang="en-US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/>
                      </a:r>
                      <a:r>
                        <a:rPr kumimoji="0" lang="en-US" altLang="ko-KR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/>
                      </a:r>
                      <a:r>
                        <a:rPr kumimoji="0" lang="ko-KR" altLang="en-US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(7/10)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일시 </a:t>
                      </a: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7/10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14:00 ~ 15:00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대회의실</a:t>
                      </a:r>
                      <a:endParaRPr kumimoji="0" lang="en-US" altLang="ko-KR" sz="1200" b="0" i="0" u="none" strike="noStrike" kern="120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altLang="ko-KR" sz="1200" b="0" i="0" u="none" strike="noStrike" kern="120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7AF79EFE-6364-7421-B7B5-B16E651AD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</p:spPr>
        <p:txBody>
          <a:bodyPr/>
          <a:lstStyle/>
          <a:p>
            <a:fld id="{34650854-40C0-43E7-BFE1-FF212316D62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8" name="바닥글 개체 틀 3">
            <a:extLst>
              <a:ext uri="{FF2B5EF4-FFF2-40B4-BE49-F238E27FC236}">
                <a16:creationId xmlns:a16="http://schemas.microsoft.com/office/drawing/2014/main" id="{B8686D2B-FC48-25A4-5F7D-F38B176ED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</p:spPr>
        <p:txBody>
          <a:bodyPr/>
          <a:lstStyle/>
          <a:p>
            <a:r>
              <a:rPr lang="ko-KR" altLang="en-US"/>
              <a:t>작성자</a:t>
            </a:r>
            <a:r>
              <a:rPr lang="en-US" altLang="ko-KR"/>
              <a:t>_프로젝트 TF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59862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q0TUy7GUitMWywivnSMA"/>
</p:tagLst>
</file>

<file path=ppt/theme/theme1.xml><?xml version="1.0" encoding="utf-8"?>
<a:theme xmlns:a="http://schemas.openxmlformats.org/drawingml/2006/main" name="1_Office 테마">
  <a:themeElements>
    <a:clrScheme name="D-Flow">
      <a:dk1>
        <a:srgbClr val="262626"/>
      </a:dk1>
      <a:lt1>
        <a:srgbClr val="FFFFFF"/>
      </a:lt1>
      <a:dk2>
        <a:srgbClr val="334155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0F766E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D-Flow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프로젝트 주간보고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주간보고 양식</dc:title>
  <dc:creator>D-Flow</dc:creator>
  <cp:lastModifiedBy>D-Flow</cp:lastModifiedBy>
  <cp:revision>1</cp:revision>
  <dcterms:created xsi:type="dcterms:W3CDTF">2026-09-24T00:00:00Z</dcterms:created>
  <dcterms:modified xsi:type="dcterms:W3CDTF">2026-09-24T00:00:00Z</dcterms:modified>
</cp:coreProperties>
</file>